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notesMaster" Target="notesMasters/notesMaster1.xml" /><Relationship Id="rId0" Type="http://schemas.openxmlformats.org/officeDocument/2006/relationships/slideMaster" Target="slideMasters/slideMaster1.xml" /><Relationship Id="rId3" Type="http://schemas.openxmlformats.org/officeDocument/2006/relationships/slide" Target="slides/slide3.xml" /><Relationship Id="rId11" Type="http://schemas.openxmlformats.org/officeDocument/2006/relationships/viewProps" Target="viewProps.xml" /><Relationship Id="rId1" Type="http://schemas.openxmlformats.org/officeDocument/2006/relationships/slide" Target="slides/slide1.xml" /><Relationship Id="rId4" Type="http://schemas.openxmlformats.org/officeDocument/2006/relationships/slide" Target="slides/slide4.xml" /><Relationship Id="rId10" Type="http://schemas.openxmlformats.org/officeDocument/2006/relationships/tableStyles" Target="tableStyles.xml" /><Relationship Id="rId2" Type="http://schemas.openxmlformats.org/officeDocument/2006/relationships/slide" Target="slides/slide2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presProps" Target="pres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4.svg" /><Relationship Id="rId2" Type="http://schemas.openxmlformats.org/officeDocument/2006/relationships/image" Target="media/image3.svg" /><Relationship Id="rId1" Type="http://schemas.openxmlformats.org/officeDocument/2006/relationships/image" Target="media/image2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pn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 descr="&lt;Slide style={{ padding: 0, background: '#0E7490', position: 'relative', overflow: 'hidden' }}&gt;&#10;    &lt;Image src=&quot;assets/hero_sky.png&quot; style={{ position: 'absolute', top: 0, left: 0, width: '1280px', height: '720px', objectFit: 'cover' }} /&gt;&#10;    &lt;Box style={{ position: 'absolute', top: 0, left: 0, width: '1280px', height: '720px', background: 'linear-gradient(90deg, rgba(8,47,61,0.88) 0%, rgba(8,47,61,0.55) 42%, rgba(8,47,61,0) 80%)' }} /&gt;&#10;    &lt;Box style={{ position: 'relative', zIndex: 2, width: '100%', height: '720px', justifyContent: 'flex-end', paddingLeft: '70px', paddingRight: '70px', paddingBottom: '84px' }}&gt;&#10;        &lt;Box style={{ width: '56px', height: '6px', background: '#F59E0B', marginBottom: '24px' }} /&gt;&#10;        &lt;Text style={{ fontSize: 64, fontWeight: 'bold', color: '#FFFFFF', lineHeight: 1.15, textShadow: '0 2px 16px rgba(0,0,0,0.35)' }}&gt;城市空气质量监测看板&lt;/Text&gt;&#10;        &lt;Text style={{ fontSize: 24, color: '#B8E6E0', marginTop: '18px', lineHeight: 1.5 }}&gt;12 座城市 × 一整年真实监测数据，从数据库到可视化的全链路实现&lt;/Text&gt;&#10;        &lt;Text style={{ fontSize: 18, color: '#D6EEEC', marginTop: '30px', letterSpacing: 1 }}&gt;Spring Boot 3.2 · JDK 17 · MyBatis · MySQL 8 · ECharts&lt;/Text&gt;&#10;        &lt;Box style={{ height: '1px', width: '460px', background: 'rgba(255,255,255,0.35)', marginTop: '26px' }} /&gt;&#10;        &lt;Text style={{ fontSize: 16, color: '#A8D5D0', marginTop: '18px', lineHeight: 1.5 }}&gt;数据来源：中国环境监测总站　|　观测区间：2025-01-01 ~ 2025-12-31　|　12 城 × 361 天 = 4,332 条日报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82F3D">
                  <a:alpha val="88000"/>
                </a:srgbClr>
              </a:gs>
              <a:gs pos="42000">
                <a:srgbClr val="082F3D">
                  <a:alpha val="55000"/>
                </a:srgbClr>
              </a:gs>
              <a:gs pos="80000">
                <a:srgbClr val="082F3D">
                  <a:alpha val="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666750" y="3133725"/>
            <a:ext cx="5334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66750" y="3419475"/>
            <a:ext cx="108585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FFFFFF"/>
                </a:solidFill>
                <a:effectLst>
                  <a:outerShdw blurRad="152400" dist="19050" dir="5400000">
                    <a:srgbClr val="000000">
                      <a:alpha val="35000"/>
                    </a:srgbClr>
                  </a:outerShdw>
                </a:effectLst>
                <a:latin typeface="Microsoft YaHei"/>
                <a:ea typeface="Microsoft YaHei"/>
              </a:rPr>
              <a:t>城市空气质量监测看板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66750" y="4438650"/>
            <a:ext cx="1085850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800">
                <a:solidFill>
                  <a:srgbClr val="B8E6E0"/>
                </a:solidFill>
                <a:latin typeface="Microsoft YaHei"/>
                <a:ea typeface="Microsoft YaHei"/>
              </a:rPr>
              <a:t>12 </a:t>
            </a:r>
            <a:r>
              <a:rPr lang="zh-CN" sz="1800">
                <a:solidFill>
                  <a:srgbClr val="B8E6E0"/>
                </a:solidFill>
                <a:latin typeface="Microsoft YaHei"/>
                <a:ea typeface="Microsoft YaHei"/>
              </a:rPr>
              <a:t>座城市</a:t>
            </a:r>
            <a:r>
              <a:rPr lang="en-US" sz="1800">
                <a:solidFill>
                  <a:srgbClr val="B8E6E0"/>
                </a:solidFill>
                <a:latin typeface="Microsoft YaHei"/>
                <a:ea typeface="Microsoft YaHei"/>
              </a:rPr>
              <a:t> × </a:t>
            </a:r>
            <a:r>
              <a:rPr lang="zh-CN" sz="1800">
                <a:solidFill>
                  <a:srgbClr val="B8E6E0"/>
                </a:solidFill>
                <a:latin typeface="Microsoft YaHei"/>
                <a:ea typeface="Microsoft YaHei"/>
              </a:rPr>
              <a:t>一整年真实监测数据，从数据库到可视化的全链路实现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66750" y="5143500"/>
            <a:ext cx="1085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75">
                <a:solidFill>
                  <a:srgbClr val="D6EEEC"/>
                </a:solidFill>
                <a:latin typeface="Microsoft YaHei"/>
                <a:ea typeface="Microsoft YaHei"/>
              </a:rPr>
              <a:t>Spring Boot 3.2 · JDK 17 · MyBatis · MySQL 8 · ECharts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66750" y="5600700"/>
            <a:ext cx="4381500" cy="9525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66750" y="5781675"/>
            <a:ext cx="10858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A8D5D0"/>
                </a:solidFill>
                <a:latin typeface="Microsoft YaHei"/>
                <a:ea typeface="Microsoft YaHei"/>
              </a:rPr>
              <a:t>数据来源：中国环境监测总站　</a:t>
            </a:r>
            <a:r>
              <a:rPr lang="en-US" sz="1200">
                <a:solidFill>
                  <a:srgbClr val="A8D5D0"/>
                </a:solidFill>
                <a:latin typeface="Microsoft YaHei"/>
                <a:ea typeface="Microsoft YaHei"/>
              </a:rPr>
              <a:t>|</a:t>
            </a:r>
            <a:r>
              <a:rPr lang="zh-CN" sz="1200">
                <a:solidFill>
                  <a:srgbClr val="A8D5D0"/>
                </a:solidFill>
                <a:latin typeface="Microsoft YaHei"/>
                <a:ea typeface="Microsoft YaHei"/>
              </a:rPr>
              <a:t>　观测区间：</a:t>
            </a:r>
            <a:r>
              <a:rPr lang="en-US" sz="1200">
                <a:solidFill>
                  <a:srgbClr val="A8D5D0"/>
                </a:solidFill>
                <a:latin typeface="Microsoft YaHei"/>
                <a:ea typeface="Microsoft YaHei"/>
              </a:rPr>
              <a:t>2025-01-01 ~ 2025-12-31</a:t>
            </a:r>
            <a:r>
              <a:rPr lang="zh-CN" sz="1200">
                <a:solidFill>
                  <a:srgbClr val="A8D5D0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A8D5D0"/>
                </a:solidFill>
                <a:latin typeface="Microsoft YaHei"/>
                <a:ea typeface="Microsoft YaHei"/>
              </a:rPr>
              <a:t>|</a:t>
            </a:r>
            <a:r>
              <a:rPr lang="zh-CN" sz="1200">
                <a:solidFill>
                  <a:srgbClr val="A8D5D0"/>
                </a:solidFill>
                <a:latin typeface="Microsoft YaHei"/>
                <a:ea typeface="Microsoft YaHei"/>
              </a:rPr>
              <a:t>　</a:t>
            </a:r>
            <a:r>
              <a:rPr lang="en-US" sz="1200">
                <a:solidFill>
                  <a:srgbClr val="A8D5D0"/>
                </a:solidFill>
                <a:latin typeface="Microsoft YaHei"/>
                <a:ea typeface="Microsoft YaHei"/>
              </a:rPr>
              <a:t>12 </a:t>
            </a:r>
            <a:r>
              <a:rPr lang="zh-CN" sz="1200">
                <a:solidFill>
                  <a:srgbClr val="A8D5D0"/>
                </a:solidFill>
                <a:latin typeface="Microsoft YaHei"/>
                <a:ea typeface="Microsoft YaHei"/>
              </a:rPr>
              <a:t>城</a:t>
            </a:r>
            <a:r>
              <a:rPr lang="en-US" sz="1200">
                <a:solidFill>
                  <a:srgbClr val="A8D5D0"/>
                </a:solidFill>
                <a:latin typeface="Microsoft YaHei"/>
                <a:ea typeface="Microsoft YaHei"/>
              </a:rPr>
              <a:t> × 361 </a:t>
            </a:r>
            <a:r>
              <a:rPr lang="zh-CN" sz="1200">
                <a:solidFill>
                  <a:srgbClr val="A8D5D0"/>
                </a:solidFill>
                <a:latin typeface="Microsoft YaHei"/>
                <a:ea typeface="Microsoft YaHei"/>
              </a:rPr>
              <a:t>天</a:t>
            </a:r>
            <a:r>
              <a:rPr lang="en-US" sz="1200">
                <a:solidFill>
                  <a:srgbClr val="A8D5D0"/>
                </a:solidFill>
                <a:latin typeface="Microsoft YaHei"/>
                <a:ea typeface="Microsoft YaHei"/>
              </a:rPr>
              <a:t> = 4,332 </a:t>
            </a:r>
            <a:r>
              <a:rPr lang="zh-CN" sz="1200">
                <a:solidFill>
                  <a:srgbClr val="A8D5D0"/>
                </a:solidFill>
                <a:latin typeface="Microsoft YaHei"/>
                <a:ea typeface="Microsoft YaHei"/>
              </a:rPr>
              <a:t>条日报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1" name="" descr="&lt;Slide style={{ padding: '20px 70px', background: '#F4F9FA' }}&gt;&#10;    &lt;Box style={{ height: '110px', justifyContent: 'center' }}&gt;&#10;        &lt;Text style={{ fontSize: 36, fontWeight: 'bold', color: '#0E7490', lineHeight: 1.3 }}&gt;项目背景与目标&lt;/Text&gt;&#10;        &lt;Box style={{ width: '56px', height: '4px', background: '#7FD1C6', marginTop: '12px' }} /&gt;&#10;    &lt;/Box&gt;&#10;&#10;    &lt;Box style={{ height: '510px', flexDirection: 'row', gap: '32px' }}&gt;&#10;        &lt;Box style={{ width: '330px', background: 'linear-gradient(135deg, #0E7490 0%, #7FD1C6 100%)', borderRadius: '14px', padding: '34px 30px', justifyContent: 'space-between' }}&gt;&#10;            &lt;Box&gt;&#10;                &lt;Text style={{ fontSize: 18, color: '#B8E6E0', fontWeight: '600', letterSpacing: 2 }}&gt;GOAL&lt;/Text&gt;&#10;                &lt;Text style={{ fontSize: 28, color: '#FFFFFF', fontWeight: 'bold', marginTop: '18px', lineHeight: 1.4 }}&gt;我们要解决&#10;什么&lt;/Text&gt;&#10;            &lt;/Box&gt;&#10;            &lt;Box&gt;&#10;                &lt;Text style={{ fontSize: 17, color: '#E4F5F3', lineHeight: 1.7 }}&gt;把分散发布、口径不一的官方监测数据，变成可筛选、可对比、可追溯的一屏看板——不用翻表格，也能一眼看出哪座城市、哪段时间、哪种污染物更严重。&lt;/Text&gt;&#10;                &lt;Box style={{ height: '1px', background: 'rgba(255,255,255,0.35)', marginTop: '22px', marginBottom: '18px' }} /&gt;&#10;                &lt;Text style={{ fontSize: 16, color: '#B8E6E0', lineHeight: 1.7 }}&gt;交付范围：F1~F8 八项前端功能&lt;br /&gt;A1~A4 四个后端接口&lt;/Text&gt;&#10;            &lt;/Box&gt;&#10;        &lt;/Box&gt;&#10;&#10;        &lt;Box style={{ flex: 1, justifyContent: 'space-between' }}&gt;&#10;            &lt;Box style={{ flex: 1, flexDirection: 'row', alignItems: 'center', gap: '24px', background: '#FFFFFF', borderRadius: '12px', padding: '0 28px', boxShadow: '0 4px 20px rgba(14,116,144,0.08)' }}&gt;&#10;                &lt;svg width='56' height='56' viewBox='0 0 56 56'&gt;&#10;                    &lt;rect x='6' y='10' width='44' height='8' rx='4' fill='#7FD1C6' /&gt;&#10;                    &lt;rect x='6' y='24' width='44' height='8' rx='4' fill='#7FD1C6' opacity='0.6' /&gt;&#10;                    &lt;rect x='6' y='38' width='28' height='8' rx='4' fill='#0E7490' /&gt;&#10;                &lt;/svg&gt;&#10;                &lt;Box style={{ flex: 1 }}&gt;&#10;                    &lt;Text style={{ fontSize: 22, fontWeight: '600', color: '#1F2937' }}&gt;数据发布分散，难以横向阅读&lt;/Text&gt;&#10;                    &lt;Text style={{ fontSize: 16, color: '#64748B', marginTop: '6px', lineHeight: 1.5 }}&gt;官方平台按城市、按日发布，想看&quot;哪座城市更差&quot;只能反复翻页，趋势全靠肉眼拼&lt;/Text&gt;&#10;                &lt;/Box&gt;&#10;            &lt;/Box&gt;&#10;&#10;            &lt;Box style={{ flex: 1, flexDirection: 'row', alignItems: 'center', gap: '24px', background: '#FFFFFF', borderRadius: '12px', padding: '0 28px', boxShadow: '0 4px 20px rgba(14,116,144,0.08)' }}&gt;&#10;                &lt;svg width='56' height='56' viewBox='0 0 56 56'&gt;&#10;                    &lt;rect x='8' y='26' width='10' height='22' rx='3' fill='#0E7490' /&gt;&#10;                    &lt;rect x='23' y='16' width='10' height='32' rx='3' fill='#7FD1C6' /&gt;&#10;                    &lt;rect x='38' y='8' width='10' height='40' rx='3' fill='#F59E0B' /&gt;&#10;                &lt;/svg&gt;&#10;                &lt;Box style={{ flex: 1 }}&gt;&#10;                    &lt;Text style={{ fontSize: 22, fontWeight: '600', color: '#1F2937' }}&gt;多城对比、时段平均都要自己算&lt;/Text&gt;&#10;                    &lt;Text style={{ fontSize: 16, color: '#64748B', marginTop: '6px', lineHeight: 1.5 }}&gt;缺少&quot;某个时间段内各城市平均值&quot;的现成视图，得先下载表格再手动统计&lt;/Text&gt;&#10;                &lt;/Box&gt;&#10;            &lt;/Box&gt;&#10;&#10;            &lt;Box style={{ flex: 1, flexDirection: 'row', alignItems: 'center', gap: '24px', background: '#FFFFFF', borderRadius: '12px', padding: '0 28px', boxShadow: '0 4px 20px rgba(14,116,144,0.08)' }}&gt;&#10;                &lt;svg width='56' height='56' viewBox='0 0 56 56'&gt;&#10;                    &lt;circle cx='28' cy='28' r='20' fill='none' stroke='#E2E8F0' strokeWidth='8' /&gt;&#10;                    &lt;path d='M28 8 A20 20 0 0 1 48 28' fill='none' stroke='#0E7490' strokeWidth='8' strokeLinecap='round' /&gt;&#10;                    &lt;path d='M48 28 A20 20 0 0 1 28 48' fill='none' stroke='#7FD1C6' strokeWidth='8' strokeLinecap='round' /&gt;&#10;                &lt;/svg&gt;&#10;                &lt;Box style={{ flex: 1 }}&gt;&#10;                    &lt;Text style={{ fontSize: 22, fontWeight: '600', color: '#1F2937' }}&gt;AQI 与六项污染物口径容易算错&lt;/Text&gt;&#10;                    &lt;Text style={{ fontSize: 16, color: '#64748B', marginTop: '6px', lineHeight: 1.5 }}&gt;各污染物分段标准不同、AQI 取最大值，手算极易出错，需要统一到国标 HJ 633-2012&lt;/Text&gt;&#10;                &lt;/Box&gt;&#10;            &lt;/Box&gt;&#10;        &lt;/Box&gt;&#10;    &lt;/Box&gt;&#10;&#10;    &lt;Box style={{ height: '40px', flexDirection: 'row', alignItems: 'center', justifyContent: 'space-between' }}&gt;&#10;        &lt;Text style={{ fontSize: 14, color: '#94A3B8' }}&gt;城市空气质量监测看板&lt;/Text&gt;&#10;        &lt;Text style={{ fontSize: 14, color: '#94A3B8' }}&gt;02 / 0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9FA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108585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E7490"/>
                </a:solidFill>
                <a:latin typeface="Microsoft YaHei"/>
                <a:ea typeface="Microsoft YaHei"/>
              </a:rPr>
              <a:t>项目背景与目标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66750" y="1028700"/>
            <a:ext cx="533400" cy="38100"/>
          </a:xfrm>
          <a:prstGeom prst="rect">
            <a:avLst/>
          </a:prstGeom>
          <a:solidFill>
            <a:srgbClr val="7FD1C6"/>
          </a:solidFill>
          <a:ln/>
        </p:spPr>
        <p:txBody>
          <a:bodyPr/>
          <a:p/>
        </p:txBody>
      </p:sp>
      <p:sp>
        <p:nvSpPr>
          <p:cNvPr id="15" name=""/>
          <p:cNvSpPr/>
          <p:nvPr/>
        </p:nvSpPr>
        <p:spPr>
          <a:xfrm rot="0" flipH="0" flipV="0">
            <a:off x="666750" y="1238250"/>
            <a:ext cx="3143250" cy="4857750"/>
          </a:xfrm>
          <a:prstGeom prst="roundRect">
            <a:avLst>
              <a:gd name="adj" fmla="val 4242"/>
            </a:avLst>
          </a:prstGeom>
          <a:gradFill>
            <a:gsLst>
              <a:gs pos="0">
                <a:srgbClr val="0E7490"/>
              </a:gs>
              <a:gs pos="100000">
                <a:srgbClr val="7FD1C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952500" y="1562100"/>
            <a:ext cx="2571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150">
                <a:solidFill>
                  <a:srgbClr val="B8E6E0"/>
                </a:solidFill>
                <a:latin typeface="Microsoft YaHei"/>
                <a:ea typeface="Microsoft YaHei"/>
              </a:rPr>
              <a:t>GOAL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952500" y="1943100"/>
            <a:ext cx="2571750" cy="457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我们要解决</a:t>
            </a: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2100" b="1">
                <a:solidFill>
                  <a:srgbClr val="FFFFFF"/>
                </a:solidFill>
                <a:latin typeface="Microsoft YaHei"/>
                <a:ea typeface="Microsoft YaHei"/>
              </a:rPr>
              <a:t>什么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952500" y="3095625"/>
            <a:ext cx="2571750" cy="1657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E4F5F3"/>
                </a:solidFill>
                <a:latin typeface="Microsoft YaHei"/>
                <a:ea typeface="Microsoft YaHei"/>
              </a:rPr>
              <a:t>把分散发布、口径不一的官方监测数据，变成可筛选、可对比、可追溯的一屏看板——不用翻表格，也能一眼看出哪座城市、哪段时间、哪种污染物更严重。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952500" y="4962525"/>
            <a:ext cx="2571750" cy="9525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952500" y="5143500"/>
            <a:ext cx="257175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B8E6E0"/>
                </a:solidFill>
                <a:latin typeface="Microsoft YaHei"/>
                <a:ea typeface="Microsoft YaHei"/>
              </a:rPr>
              <a:t>交付范围：</a:t>
            </a:r>
            <a:r>
              <a:rPr lang="en-US" sz="1200">
                <a:solidFill>
                  <a:srgbClr val="B8E6E0"/>
                </a:solidFill>
                <a:latin typeface="Microsoft YaHei"/>
                <a:ea typeface="Microsoft YaHei"/>
              </a:rPr>
              <a:t>F1~F8 </a:t>
            </a:r>
            <a:r>
              <a:rPr lang="zh-CN" sz="1200">
                <a:solidFill>
                  <a:srgbClr val="B8E6E0"/>
                </a:solidFill>
                <a:latin typeface="Microsoft YaHei"/>
                <a:ea typeface="Microsoft YaHei"/>
              </a:rPr>
              <a:t>八项前端功能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B8E6E0"/>
                </a:solidFill>
                <a:latin typeface="Microsoft YaHei"/>
                <a:ea typeface="Microsoft YaHei"/>
              </a:rPr>
              <a:t>A1~A4 </a:t>
            </a:r>
            <a:r>
              <a:rPr lang="zh-CN" sz="1200">
                <a:solidFill>
                  <a:srgbClr val="B8E6E0"/>
                </a:solidFill>
                <a:latin typeface="Microsoft YaHei"/>
                <a:ea typeface="Microsoft YaHei"/>
              </a:rPr>
              <a:t>四个后端接口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4114800" y="1238250"/>
            <a:ext cx="741045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E7490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381500" y="1781175"/>
            <a:ext cx="533400" cy="533400"/>
          </a:xfrm>
          <a:prstGeom prst="rect">
            <a:avLst/>
          </a:prstGeom>
          <a:ln/>
        </p:spPr>
      </p:pic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143500" y="1752600"/>
            <a:ext cx="6115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937"/>
                </a:solidFill>
                <a:latin typeface="Microsoft YaHei"/>
                <a:ea typeface="Microsoft YaHei"/>
              </a:rPr>
              <a:t>数据发布分散，难以横向阅读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5143500" y="2066925"/>
            <a:ext cx="61150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官方平台按城市、按日发布，想看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哪座城市更差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只能反复翻页，趋势全靠肉眼拼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4114800" y="2857500"/>
            <a:ext cx="741045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E7490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381500" y="3400425"/>
            <a:ext cx="533400" cy="533400"/>
          </a:xfrm>
          <a:prstGeom prst="rect">
            <a:avLst/>
          </a:prstGeom>
          <a:ln/>
        </p:spPr>
      </p:pic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5143500" y="3371850"/>
            <a:ext cx="6115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937"/>
                </a:solidFill>
                <a:latin typeface="Microsoft YaHei"/>
                <a:ea typeface="Microsoft YaHei"/>
              </a:rPr>
              <a:t>多城对比、时段平均都要自己算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143500" y="3686175"/>
            <a:ext cx="61150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缺少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某个时间段内各城市平均值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的现成视图，得先下载表格再手动统计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4114800" y="4476750"/>
            <a:ext cx="7410450" cy="161925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E7490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381500" y="5019675"/>
            <a:ext cx="533400" cy="533400"/>
          </a:xfrm>
          <a:prstGeom prst="rect">
            <a:avLst/>
          </a:prstGeom>
          <a:ln/>
        </p:spPr>
      </p:pic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143500" y="4991100"/>
            <a:ext cx="6115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F2937"/>
                </a:solidFill>
                <a:latin typeface="Microsoft YaHei"/>
                <a:ea typeface="Microsoft YaHei"/>
              </a:rPr>
              <a:t>AQI </a:t>
            </a:r>
            <a:r>
              <a:rPr lang="zh-CN" sz="1650" b="1">
                <a:solidFill>
                  <a:srgbClr val="1F2937"/>
                </a:solidFill>
                <a:latin typeface="Microsoft YaHei"/>
                <a:ea typeface="Microsoft YaHei"/>
              </a:rPr>
              <a:t>与六项污染物口径容易算错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5143500" y="5305425"/>
            <a:ext cx="61150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各污染物分段标准不同、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AQI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取最大值，手算极易出错，需要统一到国标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HJ 633-2012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66750" y="62103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城市空气质量监测看板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1068050" y="6210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02 / 07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5" name="" descr="&lt;Slide style={{ padding: '20px 70px', background: '#F4F9FA' }}&gt;&#10;    &lt;Box style={{ height: '110px', justifyContent: 'center' }}&gt;&#10;        &lt;Text style={{ fontSize: 36, fontWeight: 'bold', color: '#0E7490', lineHeight: 1.3 }}&gt;数据集：真实、可追溯、够充分&lt;/Text&gt;&#10;        &lt;Box style={{ width: '56px', height: '4px', background: '#7FD1C6', marginTop: '12px' }} /&gt;&#10;    &lt;/Box&gt;&#10;&#10;    &lt;Box style={{ height: '510px', flexDirection: 'row', gap: '36px' }}&gt;&#10;        &lt;Box style={{ width: '620px', background: '#FFFFFF', borderRadius: '14px', padding: '18px 20px', boxShadow: '0 4px 20px rgba(14,116,144,0.08)' }}&gt;&#10;            &lt;Text style={{ fontSize: 18, fontWeight: '600', color: '#1F2937' }}&gt;12 城年均 AQI（2025 全年）&lt;/Text&gt;&#10;            &lt;Text style={{ fontSize: 14, color: '#94A3B8', marginTop: '4px' }}&gt;单位：AQI，按国标六档着色&lt;/Text&gt;&#10;            &lt;svg width='580' height='420' viewBox='0 0 580 420'&gt;&#10;                &lt;text x='0' y='24' font-size='14' fill='#1F2937'&gt;深圳&lt;/text&gt;&#10;                &lt;rect x='52' y='12' width='230' height='18' rx='4' fill='#4CAF50' /&gt;&#10;                &lt;text x='290' y='25' font-size='13' fill='#64748B'&gt;40.8&lt;/text&gt;&#10;&#10;                &lt;text x='0' y='58' font-size='14' fill='#1F2937'&gt;海口&lt;/text&gt;&#10;                &lt;rect x='52' y='46' width='245' height='18' rx='4' fill='#4CAF50' /&gt;&#10;                &lt;text x='305' y='59' font-size='13' fill='#64748B'&gt;43.4&lt;/text&gt;&#10;&#10;                &lt;text x='0' y='92' font-size='14' fill='#1F2937'&gt;广州&lt;/text&gt;&#10;                &lt;rect x='52' y='80' width='269' height='18' rx='4' fill='#4CAF50' /&gt;&#10;                &lt;text x='329' y='93' font-size='13' fill='#64748B'&gt;47.7&lt;/text&gt;&#10;&#10;                &lt;text x='0' y='126' font-size='14' fill='#1F2937'&gt;上海&lt;/text&gt;&#10;                &lt;rect x='52' y='114' width='319' height='18' rx='4' fill='#EAB308' /&gt;&#10;                &lt;text x='379' y='127' font-size='13' fill='#64748B'&gt;56.5&lt;/text&gt;&#10;&#10;                &lt;text x='0' y='160' font-size='14' fill='#1F2937'&gt;杭州&lt;/text&gt;&#10;                &lt;rect x='52' y='148' width='325' height='18' rx='4' fill='#EAB308' /&gt;&#10;                &lt;text x='385' y='161' font-size='13' fill='#64748B'&gt;57.5&lt;/text&gt;&#10;&#10;                &lt;text x='0' y='194' font-size='14' fill='#1F2937'&gt;北京&lt;/text&gt;&#10;                &lt;rect x='52' y='182' width='342' height='18' rx='4' fill='#EAB308' /&gt;&#10;                &lt;text x='402' y='195' font-size='13' fill='#64748B'&gt;60.6&lt;/text&gt;&#10;&#10;                &lt;text x='0' y='228' font-size='14' fill='#1F2937'&gt;成都&lt;/text&gt;&#10;                &lt;rect x='52' y='216' width='363' height='18' rx='4' fill='#EAB308' /&gt;&#10;                &lt;text x='423' y='229' font-size='13' fill='#64748B'&gt;64.3&lt;/text&gt;&#10;&#10;                &lt;text x='0' y='262' font-size='14' fill='#1F2937'&gt;哈尔滨&lt;/text&gt;&#10;                &lt;rect x='52' y='250' width='370' height='18' rx='4' fill='#EAB308' /&gt;&#10;                &lt;text x='430' y='263' font-size='13' fill='#64748B'&gt;65.5&lt;/text&gt;&#10;&#10;                &lt;text x='0' y='296' font-size='14' fill='#1F2937'&gt;兰州&lt;/text&gt;&#10;                &lt;rect x='52' y='284' width='408' height='18' rx='4' fill='#EAB308' /&gt;&#10;                &lt;text x='468' y='297' font-size='13' fill='#64748B'&gt;72.2&lt;/text&gt;&#10;&#10;                &lt;text x='0' y='330' font-size='14' fill='#1F2937'&gt;石家庄&lt;/text&gt;&#10;                &lt;rect x='52' y='318' width='438' height='18' rx='4' fill='#EAB308' /&gt;&#10;                &lt;text x='498' y='331' font-size='13' fill='#64748B'&gt;77.5&lt;/text&gt;&#10;&#10;                &lt;text x='0' y='364' font-size='14' fill='#1F2937'&gt;西安&lt;/text&gt;&#10;                &lt;rect x='52' y='352' width='450' height='18' rx='4' fill='#EAB308' /&gt;&#10;                &lt;text x='510' y='365' font-size='13' fill='#64748B'&gt;79.7&lt;/text&gt;&#10;&#10;                &lt;text x='0' y='398' font-size='14' fill='#1F2937'&gt;郑州&lt;/text&gt;&#10;                &lt;rect x='52' y='386' width='465' height='18' rx='4' fill='#EAB308' /&gt;&#10;                &lt;text x='525' y='399' font-size='13' fill='#64748B'&gt;82.4&lt;/text&gt;&#10;            &lt;/svg&gt;&#10;        &lt;/Box&gt;&#10;&#10;        &lt;Box style={{ flex: 1, justifyContent: 'space-between', paddingTop: '10px' }}&gt;&#10;            &lt;Box&gt;&#10;                &lt;Text style={{ fontSize: 96, fontWeight: 'bold', color: '#F59E0B', fontFamily: 'Arial', lineHeight: 1.0 }}&gt;4,332&lt;/Text&gt;&#10;                &lt;Text style={{ fontSize: 20, color: '#0E7490', fontWeight: '600', marginTop: '10px' }}&gt;条日报记录 · 12 城 × 361 天&lt;/Text&gt;&#10;                &lt;Text style={{ fontSize: 16, color: '#64748B', marginTop: '8px', lineHeight: 1.6 }}&gt;是课程要求下限（5 城 × 90 天 = 450 条）的 9.6 倍&lt;/Text&gt;&#10;            &lt;/Box&gt;&#10;&#10;            &lt;Box style={{ background: '#FFFFFF', borderRadius: '12px', padding: '22px 24px', boxShadow: '0 4px 20px rgba(14,116,144,0.08)' }}&gt;&#10;                &lt;Text style={{ fontSize: 17, color: '#1F2937', lineHeight: 1.7 }}&gt;&lt;span style={{ fontWeight: '600', color: '#0E7490' }}&gt;来源可追溯：&lt;/span&gt;中国环境监测总站官方发布数据，经 quotsoft.net 镜像下载 365 个原始 CSV，逐日提取 12 城日报口径。&lt;/Text&gt;&#10;                &lt;Box style={{ height: '1px', background: '#E2E8F0', marginTop: '16px', marginBottom: '16px' }} /&gt;&#10;                &lt;Text style={{ fontSize: 17, color: '#1F2937', lineHeight: 1.7 }}&gt;&lt;span style={{ fontWeight: '600', color: '#0E7490' }}&gt;宁缺毋滥：&lt;/span&gt;有效小时数 &amp;lt; 12 的日期整日丢弃，共弃 4 天，保留率 98.9%——不留不可靠的日均值。&lt;/Text&gt;&#10;            &lt;/Box&gt;&#10;        &lt;/Box&gt;&#10;    &lt;/Box&gt;&#10;&#10;    &lt;Box style={{ height: '40px', flexDirection: 'row', alignItems: 'center', justifyContent: 'space-between' }}&gt;&#10;        &lt;Text style={{ fontSize: 14, color: '#94A3B8' }}&gt;城市空气质量监测看板&lt;/Text&gt;&#10;        &lt;Text style={{ fontSize: 14, color: '#94A3B8' }}&gt;03 / 0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9FA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108585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E7490"/>
                </a:solidFill>
                <a:latin typeface="Microsoft YaHei"/>
                <a:ea typeface="Microsoft YaHei"/>
              </a:rPr>
              <a:t>数据集：真实、可追溯、够充分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66750" y="1028700"/>
            <a:ext cx="533400" cy="38100"/>
          </a:xfrm>
          <a:prstGeom prst="rect">
            <a:avLst/>
          </a:prstGeom>
          <a:solidFill>
            <a:srgbClr val="7FD1C6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666750" y="1238250"/>
            <a:ext cx="5905500" cy="485775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E749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57250" y="1409700"/>
            <a:ext cx="552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F2937"/>
                </a:solidFill>
                <a:latin typeface="Microsoft YaHei"/>
                <a:ea typeface="Microsoft YaHei"/>
              </a:rPr>
              <a:t>12 </a:t>
            </a:r>
            <a:r>
              <a:rPr lang="zh-CN" sz="1350" b="1">
                <a:solidFill>
                  <a:srgbClr val="1F2937"/>
                </a:solidFill>
                <a:latin typeface="Microsoft YaHei"/>
                <a:ea typeface="Microsoft YaHei"/>
              </a:rPr>
              <a:t>城年均</a:t>
            </a:r>
            <a:r>
              <a:rPr lang="en-US" sz="1350" b="1">
                <a:solidFill>
                  <a:srgbClr val="1F2937"/>
                </a:solidFill>
                <a:latin typeface="Microsoft YaHei"/>
                <a:ea typeface="Microsoft YaHei"/>
              </a:rPr>
              <a:t> AQI</a:t>
            </a:r>
            <a:r>
              <a:rPr lang="zh-CN" sz="1350" b="1">
                <a:solidFill>
                  <a:srgbClr val="1F2937"/>
                </a:solidFill>
                <a:latin typeface="Microsoft YaHei"/>
                <a:ea typeface="Microsoft YaHei"/>
              </a:rPr>
              <a:t>（</a:t>
            </a:r>
            <a:r>
              <a:rPr lang="en-US" sz="1350" b="1">
                <a:solidFill>
                  <a:srgbClr val="1F2937"/>
                </a:solidFill>
                <a:latin typeface="Microsoft YaHei"/>
                <a:ea typeface="Microsoft YaHei"/>
              </a:rPr>
              <a:t>2025 </a:t>
            </a:r>
            <a:r>
              <a:rPr lang="zh-CN" sz="1350" b="1">
                <a:solidFill>
                  <a:srgbClr val="1F2937"/>
                </a:solidFill>
                <a:latin typeface="Microsoft YaHei"/>
                <a:ea typeface="Microsoft YaHei"/>
              </a:rPr>
              <a:t>全年）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57250" y="1657350"/>
            <a:ext cx="552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单位：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AQI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，按国标六档着色</a:t>
            </a:r>
            <a:endParaRPr/>
          </a:p>
        </p:txBody>
      </p:sp>
      <p:pic>
        <p:nvPicPr>
          <p:cNvPr id="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819275"/>
            <a:ext cx="5524500" cy="4000500"/>
          </a:xfrm>
          <a:prstGeom prst="rect">
            <a:avLst/>
          </a:prstGeom>
          <a:ln/>
        </p:spPr>
      </p:pic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915150" y="1333500"/>
            <a:ext cx="46101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59E0B"/>
                </a:solidFill>
                <a:latin typeface="Arial"/>
                <a:ea typeface="Arial"/>
              </a:rPr>
              <a:t>4,332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915150" y="2533650"/>
            <a:ext cx="4610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7490"/>
                </a:solidFill>
                <a:latin typeface="Microsoft YaHei"/>
                <a:ea typeface="Microsoft YaHei"/>
              </a:rPr>
              <a:t>条日报记录</a:t>
            </a:r>
            <a:r>
              <a:rPr lang="en-US" sz="1500" b="1">
                <a:solidFill>
                  <a:srgbClr val="0E7490"/>
                </a:solidFill>
                <a:latin typeface="Microsoft YaHei"/>
                <a:ea typeface="Microsoft YaHei"/>
              </a:rPr>
              <a:t> · 12 </a:t>
            </a:r>
            <a:r>
              <a:rPr lang="zh-CN" sz="1500" b="1">
                <a:solidFill>
                  <a:srgbClr val="0E7490"/>
                </a:solidFill>
                <a:latin typeface="Microsoft YaHei"/>
                <a:ea typeface="Microsoft YaHei"/>
              </a:rPr>
              <a:t>城</a:t>
            </a:r>
            <a:r>
              <a:rPr lang="en-US" sz="1500" b="1">
                <a:solidFill>
                  <a:srgbClr val="0E7490"/>
                </a:solidFill>
                <a:latin typeface="Microsoft YaHei"/>
                <a:ea typeface="Microsoft YaHei"/>
              </a:rPr>
              <a:t> × 361 </a:t>
            </a:r>
            <a:r>
              <a:rPr lang="zh-CN" sz="1500" b="1">
                <a:solidFill>
                  <a:srgbClr val="0E7490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915150" y="2838450"/>
            <a:ext cx="4610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是课程要求下限（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5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城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× 90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天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= 450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条）的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9.6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倍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915150" y="3695700"/>
            <a:ext cx="4610100" cy="24003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E749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143750" y="3905250"/>
            <a:ext cx="415290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 b="1">
                <a:solidFill>
                  <a:srgbClr val="0E7490"/>
                </a:solidFill>
                <a:latin typeface="Microsoft YaHei"/>
                <a:ea typeface="Microsoft YaHei"/>
              </a:rPr>
              <a:t>来源可追溯：</a:t>
            </a:r>
            <a:r>
              <a:rPr lang="zh-CN" sz="1275">
                <a:solidFill>
                  <a:srgbClr val="1F2937"/>
                </a:solidFill>
                <a:latin typeface="Microsoft YaHei"/>
                <a:ea typeface="Microsoft YaHei"/>
              </a:rPr>
              <a:t>中国环境监测总站官方发布数据，经</a:t>
            </a:r>
            <a:r>
              <a:rPr lang="en-US" sz="1275">
                <a:solidFill>
                  <a:srgbClr val="1F2937"/>
                </a:solidFill>
                <a:latin typeface="Microsoft YaHei"/>
                <a:ea typeface="Microsoft YaHei"/>
              </a:rPr>
              <a:t> quotsoft.net </a:t>
            </a:r>
            <a:r>
              <a:rPr lang="zh-CN" sz="1275">
                <a:solidFill>
                  <a:srgbClr val="1F2937"/>
                </a:solidFill>
                <a:latin typeface="Microsoft YaHei"/>
                <a:ea typeface="Microsoft YaHei"/>
              </a:rPr>
              <a:t>镜像下载</a:t>
            </a:r>
            <a:r>
              <a:rPr lang="en-US" sz="1275">
                <a:solidFill>
                  <a:srgbClr val="1F2937"/>
                </a:solidFill>
                <a:latin typeface="Microsoft YaHei"/>
                <a:ea typeface="Microsoft YaHei"/>
              </a:rPr>
              <a:t> 365 </a:t>
            </a:r>
            <a:r>
              <a:rPr lang="zh-CN" sz="1275">
                <a:solidFill>
                  <a:srgbClr val="1F2937"/>
                </a:solidFill>
                <a:latin typeface="Microsoft YaHei"/>
                <a:ea typeface="Microsoft YaHei"/>
              </a:rPr>
              <a:t>个原始</a:t>
            </a:r>
            <a:r>
              <a:rPr lang="en-US" sz="1275">
                <a:solidFill>
                  <a:srgbClr val="1F2937"/>
                </a:solidFill>
                <a:latin typeface="Microsoft YaHei"/>
                <a:ea typeface="Microsoft YaHei"/>
              </a:rPr>
              <a:t> CSV</a:t>
            </a:r>
            <a:r>
              <a:rPr lang="zh-CN" sz="1275">
                <a:solidFill>
                  <a:srgbClr val="1F2937"/>
                </a:solidFill>
                <a:latin typeface="Microsoft YaHei"/>
                <a:ea typeface="Microsoft YaHei"/>
              </a:rPr>
              <a:t>，逐日提取</a:t>
            </a:r>
            <a:r>
              <a:rPr lang="en-US" sz="1275">
                <a:solidFill>
                  <a:srgbClr val="1F2937"/>
                </a:solidFill>
                <a:latin typeface="Microsoft YaHei"/>
                <a:ea typeface="Microsoft YaHei"/>
              </a:rPr>
              <a:t> 12 </a:t>
            </a:r>
            <a:r>
              <a:rPr lang="zh-CN" sz="1275">
                <a:solidFill>
                  <a:srgbClr val="1F2937"/>
                </a:solidFill>
                <a:latin typeface="Microsoft YaHei"/>
                <a:ea typeface="Microsoft YaHei"/>
              </a:rPr>
              <a:t>城日报口径。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7143750" y="5057775"/>
            <a:ext cx="4152900" cy="952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143750" y="5219700"/>
            <a:ext cx="41529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 b="1">
                <a:solidFill>
                  <a:srgbClr val="0E7490"/>
                </a:solidFill>
                <a:latin typeface="Microsoft YaHei"/>
                <a:ea typeface="Microsoft YaHei"/>
              </a:rPr>
              <a:t>宁缺毋滥：</a:t>
            </a:r>
            <a:r>
              <a:rPr lang="zh-CN" sz="1275">
                <a:solidFill>
                  <a:srgbClr val="1F2937"/>
                </a:solidFill>
                <a:latin typeface="Microsoft YaHei"/>
                <a:ea typeface="Microsoft YaHei"/>
              </a:rPr>
              <a:t>有效小时数</a:t>
            </a:r>
            <a:r>
              <a:rPr lang="en-US" sz="1275">
                <a:solidFill>
                  <a:srgbClr val="1F2937"/>
                </a:solidFill>
                <a:latin typeface="Microsoft YaHei"/>
                <a:ea typeface="Microsoft YaHei"/>
              </a:rPr>
              <a:t> &lt; 12 </a:t>
            </a:r>
            <a:r>
              <a:rPr lang="zh-CN" sz="1275">
                <a:solidFill>
                  <a:srgbClr val="1F2937"/>
                </a:solidFill>
                <a:latin typeface="Microsoft YaHei"/>
                <a:ea typeface="Microsoft YaHei"/>
              </a:rPr>
              <a:t>的日期整日丢弃，共弃</a:t>
            </a:r>
            <a:r>
              <a:rPr lang="en-US" sz="1275">
                <a:solidFill>
                  <a:srgbClr val="1F2937"/>
                </a:solidFill>
                <a:latin typeface="Microsoft YaHei"/>
                <a:ea typeface="Microsoft YaHei"/>
              </a:rPr>
              <a:t> 4 </a:t>
            </a:r>
            <a:r>
              <a:rPr lang="zh-CN" sz="1275">
                <a:solidFill>
                  <a:srgbClr val="1F2937"/>
                </a:solidFill>
                <a:latin typeface="Microsoft YaHei"/>
                <a:ea typeface="Microsoft YaHei"/>
              </a:rPr>
              <a:t>天，保留率</a:t>
            </a:r>
            <a:r>
              <a:rPr lang="en-US" sz="1275">
                <a:solidFill>
                  <a:srgbClr val="1F2937"/>
                </a:solidFill>
                <a:latin typeface="Microsoft YaHei"/>
                <a:ea typeface="Microsoft YaHei"/>
              </a:rPr>
              <a:t> 98.9%——</a:t>
            </a:r>
            <a:r>
              <a:rPr lang="zh-CN" sz="1275">
                <a:solidFill>
                  <a:srgbClr val="1F2937"/>
                </a:solidFill>
                <a:latin typeface="Microsoft YaHei"/>
                <a:ea typeface="Microsoft YaHei"/>
              </a:rPr>
              <a:t>不留不可靠的日均值。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66750" y="62103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城市空气质量监测看板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1068050" y="6210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03 / 07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2" name="" descr="&lt;Slide style={{ padding: '20px 70px', background: '#F4F9FA' }}&gt;&#10;    &lt;Box style={{ height: '110px', justifyContent: 'center' }}&gt;&#10;        &lt;Text style={{ fontSize: 36, fontWeight: 'bold', color: '#0E7490', lineHeight: 1.3 }}&gt;系统设计与技术架构&lt;/Text&gt;&#10;        &lt;Box style={{ width: '56px', height: '4px', background: '#7FD1C6', marginTop: '12px' }} /&gt;&#10;    &lt;/Box&gt;&#10;&#10;    &lt;Box style={{ height: '510px', flexDirection: 'row', gap: '32px' }}&gt;&#10;        &lt;Box style={{ width: '700px', background: '#FFFFFF', borderRadius: '14px', padding: '16px 22px', boxShadow: '0 4px 20px rgba(14,116,144,0.08)' }}&gt;&#10;            &lt;Text style={{ fontSize: 17, fontWeight: '600', color: '#1F2937' }}&gt;五层架构：每层职责单一，可单独替换&lt;/Text&gt;&#10;            &lt;svg width='656' height='424' viewBox='0 0 656 424'&gt;&#10;                &lt;rect x='0' y='4' width='656' height='74' rx='10' fill='#E6F6F5' /&gt;&#10;                &lt;rect x='0' y='4' width='6' height='74' rx='3' fill='#0E7490' /&gt;&#10;                &lt;text x='22' y='34' font-size='17' font-weight='bold' fill='#0E7490'&gt;前端展示层&lt;/text&gt;&#10;                &lt;text x='22' y='58' font-size='14' fill='#64748B'&gt;Vue 3 组件 + ECharts：趋势折线 · 对比柱状 · 等级环形 · 分页表格&lt;/text&gt;&#10;                &lt;path d='M328 78 L328 92' stroke='#94A3B8' stroke-width='2' /&gt;&#10;                &lt;path d='M324 88 L328 94 L332 88' fill='none' stroke='#94A3B8' stroke-width='2' /&gt;&#10;&#10;                &lt;rect x='0' y='94' width='656' height='74' rx='10' fill='#E6F6F5' /&gt;&#10;                &lt;rect x='0' y='94' width='6' height='74' rx='3' fill='#0E7490' /&gt;&#10;                &lt;text x='22' y='124' font-size='17' font-weight='bold' fill='#0E7490'&gt;接口层 Controller&lt;/text&gt;&#10;                &lt;text x='22' y='148' font-size='14' fill='#64748B'&gt;{'GET /api/cities · /api/air-quality · /stats · /{id}'}&lt;/text&gt;&#10;                &lt;path d='M328 168 L328 182' stroke='#94A3B8' stroke-width='2' /&gt;&#10;                &lt;path d='M324 178 L328 184 L332 178' fill='none' stroke='#94A3B8' stroke-width='2' /&gt;&#10;&#10;                &lt;rect x='0' y='184' width='656' height='74' rx='10' fill='#E6F6F5' /&gt;&#10;                &lt;rect x='0' y='184' width='6' height='74' rx='3' fill='#0E7490' /&gt;&#10;                &lt;text x='22' y='214' font-size='17' font-weight='bold' fill='#0E7490'&gt;业务层 Service&lt;/text&gt;&#10;                &lt;text x='22' y='238' font-size='14' fill='#64748B'&gt;AQI 国标换算 · 等级判定 · 分组统计 · 分页与参数校验&lt;/text&gt;&#10;                &lt;path d='M328 258 L328 272' stroke='#94A3B8' stroke-width='2' /&gt;&#10;                &lt;path d='M324 268 L328 274 L332 268' fill='none' stroke='#94A3B8' stroke-width='2' /&gt;&#10;&#10;                &lt;rect x='0' y='274' width='656' height='74' rx='10' fill='#E6F6F5' /&gt;&#10;                &lt;rect x='0' y='274' width='6' height='74' rx='3' fill='#0E7490' /&gt;&#10;                &lt;text x='22' y='304' font-size='17' font-weight='bold' fill='#0E7490'&gt;数据访问层 Mapper&lt;/text&gt;&#10;                &lt;text x='22' y='328' font-size='14' fill='#64748B'&gt;MyBatis XML：全部走 uk_city_date / idx_date 索引直查，无 GROUP BY&lt;/text&gt;&#10;                &lt;path d='M328 348 L328 362' stroke='#94A3B8' stroke-width='2' /&gt;&#10;                &lt;path d='M324 358 L328 364 L332 358' fill='none' stroke='#94A3B8' stroke-width='2' /&gt;&#10;&#10;                &lt;rect x='0' y='364' width='656' height='56' rx='10' fill='#0E7490' /&gt;&#10;                &lt;text x='22' y='388' font-size='17' font-weight='bold' fill='#FFFFFF'&gt;MySQL 8 · aqi_dashboard&lt;/text&gt;&#10;                &lt;text x='22' y='408' font-size='14' fill='#B8E6E0'&gt;city 12 行　air_quality 4,332 行　唯一键 uk_city_date&lt;/text&gt;&#10;            &lt;/svg&gt;&#10;        &lt;/Box&gt;&#10;&#10;        &lt;Box style={{ flex: 1, justifyContent: 'space-between' }}&gt;&#10;            &lt;Box style={{ height: '118px', flexShrink: 0, background: '#FFFFFF', borderRadius: '12px', padding: '20px 22px', justifyContent: 'center', boxShadow: '0 4px 20px rgba(14,116,144,0.08)' }}&gt;&#10;                &lt;Text style={{ fontSize: 20, fontWeight: '600', color: '#0E7490' }}&gt;聚合下沉 Java 侧&lt;/Text&gt;&#10;                &lt;Text style={{ fontSize: 15, color: '#64748B', marginTop: '8px', lineHeight: 1.55 }}&gt;4,332 行规模下内存聚合开销可忽略，借此避免在 XML 里拼接列名&lt;/Text&gt;&#10;            &lt;/Box&gt;&#10;            &lt;Box style={{ height: '118px', flexShrink: 0, background: '#FFFFFF', borderRadius: '12px', padding: '20px 22px', justifyContent: 'center', boxShadow: '0 4px 20px rgba(14,116,144,0.08)' }}&gt;&#10;                &lt;Text style={{ fontSize: 20, fontWeight: '600', color: '#0E7490' }}&gt;HALF_EVEN 舍入&lt;/Text&gt;&#10;                &lt;Text style={{ fontSize: 15, color: '#64748B', marginTop: '8px', lineHeight: 1.55 }}&gt;对齐国标与清洗脚本，全量 4,332 行复算与入库值零偏差&lt;/Text&gt;&#10;            &lt;/Box&gt;&#10;            &lt;Box style={{ height: '118px', flexShrink: 0, background: '#FFFFFF', borderRadius: '12px', padding: '20px 22px', justifyContent: 'center', boxShadow: '0 4px 20px rgba(14,116,144,0.08)' }}&gt;&#10;                &lt;Text style={{ fontSize: 20, fontWeight: '600', color: '#0E7490' }}&gt;CORS 白名单&lt;/Text&gt;&#10;                &lt;Text style={{ fontSize: 15, color: '#64748B', marginTop: '8px', lineHeight: 1.55 }}&gt;只放行 localhost:5173，其余来源一律拒绝，不图省事开通配&lt;/Text&gt;&#10;            &lt;/Box&gt;&#10;            &lt;Box style={{ height: '118px', flexShrink: 0, background: '#FFFFFF', borderRadius: '12px', padding: '20px 22px', justifyContent: 'center', boxShadow: '0 4px 20px rgba(14,116,144,0.08)' }}&gt;&#10;                &lt;Text style={{ fontSize: 20, fontWeight: '600', color: '#0E7490' }}&gt;日期边界由 /meta 下发&lt;/Text&gt;&#10;                &lt;Text style={{ fontSize: 15, color: '#64748B', marginTop: '8px', lineHeight: 1.55 }}&gt;数据集&quot;今天&quot;是 2025-12-31，不用系统时间，避免默认落在空区间&lt;/Text&gt;&#10;            &lt;/Box&gt;&#10;        &lt;/Box&gt;&#10;    &lt;/Box&gt;&#10;&#10;    &lt;Box style={{ height: '40px', flexDirection: 'row', alignItems: 'center', justifyContent: 'space-between' }}&gt;&#10;        &lt;Text style={{ fontSize: 14, color: '#94A3B8' }}&gt;城市空气质量监测看板&lt;/Text&gt;&#10;        &lt;Text style={{ fontSize: 14, color: '#94A3B8' }}&gt;04 / 0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9FA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108585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E7490"/>
                </a:solidFill>
                <a:latin typeface="Microsoft YaHei"/>
                <a:ea typeface="Microsoft YaHei"/>
              </a:rPr>
              <a:t>系统设计与技术架构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666750" y="1028700"/>
            <a:ext cx="533400" cy="38100"/>
          </a:xfrm>
          <a:prstGeom prst="rect">
            <a:avLst/>
          </a:prstGeom>
          <a:solidFill>
            <a:srgbClr val="7FD1C6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666750" y="1238250"/>
            <a:ext cx="6667500" cy="485775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E749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76300" y="1390650"/>
            <a:ext cx="6248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2937"/>
                </a:solidFill>
                <a:latin typeface="Microsoft YaHei"/>
                <a:ea typeface="Microsoft YaHei"/>
              </a:rPr>
              <a:t>五层架构：每层职责单一，可单独替换</a:t>
            </a:r>
            <a:endParaRPr/>
          </a:p>
        </p:txBody>
      </p:sp>
      <p:pic>
        <p:nvPicPr>
          <p:cNvPr id="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1590675"/>
            <a:ext cx="6248400" cy="4038600"/>
          </a:xfrm>
          <a:prstGeom prst="rect">
            <a:avLst/>
          </a:prstGeom>
          <a:ln/>
        </p:spPr>
      </p:pic>
      <p:sp>
        <p:nvSpPr>
          <p:cNvPr id="59" name=""/>
          <p:cNvSpPr/>
          <p:nvPr/>
        </p:nvSpPr>
        <p:spPr>
          <a:xfrm rot="0" flipH="0" flipV="0">
            <a:off x="7639050" y="1238250"/>
            <a:ext cx="38862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E749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7848600" y="1381125"/>
            <a:ext cx="3467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7490"/>
                </a:solidFill>
                <a:latin typeface="Microsoft YaHei"/>
                <a:ea typeface="Microsoft YaHei"/>
              </a:rPr>
              <a:t>聚合下沉</a:t>
            </a:r>
            <a:r>
              <a:rPr lang="en-US" sz="1500" b="1">
                <a:solidFill>
                  <a:srgbClr val="0E7490"/>
                </a:solidFill>
                <a:latin typeface="Microsoft YaHei"/>
                <a:ea typeface="Microsoft YaHei"/>
              </a:rPr>
              <a:t> Java </a:t>
            </a:r>
            <a:r>
              <a:rPr lang="zh-CN" sz="1500" b="1">
                <a:solidFill>
                  <a:srgbClr val="0E7490"/>
                </a:solidFill>
                <a:latin typeface="Microsoft YaHei"/>
                <a:ea typeface="Microsoft YaHei"/>
              </a:rPr>
              <a:t>侧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7848600" y="1685925"/>
            <a:ext cx="34671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4,332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行规模下内存聚合开销可忽略，借此避免在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XML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里拼接列名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7639050" y="2486025"/>
            <a:ext cx="38862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E749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848600" y="2628900"/>
            <a:ext cx="3467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7490"/>
                </a:solidFill>
                <a:latin typeface="Microsoft YaHei"/>
                <a:ea typeface="Microsoft YaHei"/>
              </a:rPr>
              <a:t>HALF_EVEN </a:t>
            </a:r>
            <a:r>
              <a:rPr lang="zh-CN" sz="1500" b="1">
                <a:solidFill>
                  <a:srgbClr val="0E7490"/>
                </a:solidFill>
                <a:latin typeface="Microsoft YaHei"/>
                <a:ea typeface="Microsoft YaHei"/>
              </a:rPr>
              <a:t>舍入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7848600" y="2933700"/>
            <a:ext cx="34671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对齐国标与清洗脚本，全量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4,332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行复算与入库值零偏差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7639050" y="3724275"/>
            <a:ext cx="38862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E749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7848600" y="3867150"/>
            <a:ext cx="3467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7490"/>
                </a:solidFill>
                <a:latin typeface="Microsoft YaHei"/>
                <a:ea typeface="Microsoft YaHei"/>
              </a:rPr>
              <a:t>CORS </a:t>
            </a:r>
            <a:r>
              <a:rPr lang="zh-CN" sz="1500" b="1">
                <a:solidFill>
                  <a:srgbClr val="0E7490"/>
                </a:solidFill>
                <a:latin typeface="Microsoft YaHei"/>
                <a:ea typeface="Microsoft YaHei"/>
              </a:rPr>
              <a:t>白名单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7848600" y="4171950"/>
            <a:ext cx="34671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只放行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localhost:5173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，其余来源一律拒绝，不图省事开通配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7639050" y="4972050"/>
            <a:ext cx="388620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E749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848600" y="5114925"/>
            <a:ext cx="3467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7490"/>
                </a:solidFill>
                <a:latin typeface="Microsoft YaHei"/>
                <a:ea typeface="Microsoft YaHei"/>
              </a:rPr>
              <a:t>日期边界由</a:t>
            </a:r>
            <a:r>
              <a:rPr lang="en-US" sz="1500" b="1">
                <a:solidFill>
                  <a:srgbClr val="0E7490"/>
                </a:solidFill>
                <a:latin typeface="Microsoft YaHei"/>
                <a:ea typeface="Microsoft YaHei"/>
              </a:rPr>
              <a:t> /meta </a:t>
            </a:r>
            <a:r>
              <a:rPr lang="zh-CN" sz="1500" b="1">
                <a:solidFill>
                  <a:srgbClr val="0E7490"/>
                </a:solidFill>
                <a:latin typeface="Microsoft YaHei"/>
                <a:ea typeface="Microsoft YaHei"/>
              </a:rPr>
              <a:t>下发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848600" y="5419725"/>
            <a:ext cx="34671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数据集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今天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是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2025-12-31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，不用系统时间，避免默认落在空区间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66750" y="62103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城市空气质量监测看板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1068050" y="6210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04 / 07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73" name="" descr="&lt;Slide style={{ padding: '20px 70px', background: '#F4F9FA' }}&gt;&#10;    &lt;Box style={{ height: '110px', justifyContent: 'center' }}&gt;&#10;        &lt;Text style={{ fontSize: 36, fontWeight: 'bold', color: '#0E7490', lineHeight: 1.3 }}&gt;功能与接口实现&lt;/Text&gt;&#10;        &lt;Box style={{ width: '56px', height: '4px', background: '#7FD1C6', marginTop: '12px' }} /&gt;&#10;    &lt;/Box&gt;&#10;&#10;    &lt;Box style={{ height: '510px', flexDirection: 'row', gap: '32px' }}&gt;&#10;        &lt;Box style={{ width: '340px', background: 'linear-gradient(135deg, #0E7490 0%, #7FD1C6 100%)', borderRadius: '14px', padding: '22px 24px', justifyContent: 'space-between' }}&gt;&#10;            &lt;Box&gt;&#10;                &lt;Text style={{ fontSize: 18, color: '#B8E6E0', fontWeight: '600', letterSpacing: 2 }}&gt;API&lt;/Text&gt;&#10;                &lt;Text style={{ fontSize: 26, color: '#FFFFFF', fontWeight: 'bold', marginTop: '14px', lineHeight: 1.4 }}&gt;四个后端接口&lt;/Text&gt;&#10;            &lt;/Box&gt;&#10;            &lt;Box&gt;&#10;                &lt;Text style={{ fontSize: 16, color: '#FFFFFF', lineHeight: 1.9, fontWeight: '600' }}&gt;{'A1　GET /api/cities'}&lt;/Text&gt;&#10;                &lt;Text style={{ fontSize: 14, color: '#D6EEEC', lineHeight: 1.6, marginBottom: '4px' }}&gt;城市列表，含城市名与城市代码&lt;/Text&gt;&#10;                &lt;Text style={{ fontSize: 16, color: '#FFFFFF', lineHeight: 1.9, fontWeight: '600' }}&gt;{'A2　GET /api/air-quality'}&lt;/Text&gt;&#10;                &lt;Text style={{ fontSize: 14, color: '#D6EEEC', lineHeight: 1.6, marginBottom: '4px' }}&gt;城市 + 指标 + 起止日期，分页返回明细&lt;/Text&gt;&#10;                &lt;Text style={{ fontSize: 16, color: '#FFFFFF', lineHeight: 1.9, fontWeight: '600' }}&gt;{'A3　GET /api/air-quality/stats'}&lt;/Text&gt;&#10;                &lt;Text style={{ fontSize: 14, color: '#D6EEEC', lineHeight: 1.6, marginBottom: '4px' }}&gt;按城市分组：均值 / 最大 / 最小 / 优良率&lt;/Text&gt;&#10;                &lt;Text style={{ fontSize: 16, color: '#FFFFFF', lineHeight: 1.9, fontWeight: '600' }}&gt;{'A4　GET /api/air-quality/{id}'}&lt;/Text&gt;&#10;                &lt;Text style={{ fontSize: 14, color: '#D6EEEC', lineHeight: 1.6 }}&gt;单条记录全部字段详情&lt;/Text&gt;&#10;            &lt;/Box&gt;&#10;            &lt;Box style={{ background: 'rgba(255,255,255,0.14)', borderRadius: '10px', padding: '14px 16px' }}&gt;&#10;                &lt;Text style={{ fontSize: 13, color: '#B8E6E0', lineHeight: 1.6 }}&gt;参数示例&lt;/Text&gt;&#10;                &lt;Text style={{ fontSize: 13, color: '#FFFFFF', lineHeight: 1.6, marginTop: '6px', fontFamily: 'Arial' }}&gt;{'?cityIds=1,2&amp;metric=pm25'}&lt;br /&gt;{'&amp;start=2025-01-01&amp;end=2025-01-31'}&lt;/Text&gt;&#10;            &lt;/Box&gt;&#10;        &lt;/Box&gt;&#10;&#10;        &lt;Box style={{ flex: 1, flexDirection: 'row', gap: '20px' }}&gt;&#10;            &lt;Box style={{ flex: 1, justifyContent: 'space-between' }}&gt;&#10;                &lt;Box style={{ height: '112px', background: '#FFFFFF', borderRadius: '12px', padding: '18px 20px', justifyContent: 'center', boxShadow: '0 4px 20px rgba(14,116,144,0.08)' }}&gt;&#10;                    &lt;Text style={{ fontSize: 19, fontWeight: '600', color: '#0E7490' }}&gt;F1　首页框架&lt;/Text&gt;&#10;                    &lt;Text style={{ fontSize: 15, color: '#64748B', marginTop: '6px', lineHeight: 1.5 }}&gt;顶部标题栏 + 左侧筛选区 + 主区图表&lt;/Text&gt;&#10;                &lt;/Box&gt;&#10;                &lt;Box style={{ height: '112px', background: '#FFFFFF', borderRadius: '12px', padding: '18px 20px', justifyContent: 'center', boxShadow: '0 4px 20px rgba(14,116,144,0.08)' }}&gt;&#10;                    &lt;Text style={{ fontSize: 19, fontWeight: '600', color: '#0E7490' }}&gt;F2　城市选择&lt;/Text&gt;&#10;                    &lt;Text style={{ fontSize: 15, color: '#64748B', marginTop: '6px', lineHeight: 1.5 }}&gt;12 城可多选，支持全选与一键清空&lt;/Text&gt;&#10;                &lt;/Box&gt;&#10;                &lt;Box style={{ height: '112px', background: '#FFFFFF', borderRadius: '12px', padding: '18px 20px', justifyContent: 'center', boxShadow: '0 4px 20px rgba(14,116,144,0.08)' }}&gt;&#10;                    &lt;Text style={{ fontSize: 19, fontWeight: '600', color: '#0E7490' }}&gt;F3　时间范围&lt;/Text&gt;&#10;                    &lt;Text style={{ fontSize: 15, color: '#64748B', marginTop: '6px', lineHeight: 1.5 }}&gt;起止日期选择，默认展示最近 30 天&lt;/Text&gt;&#10;                &lt;/Box&gt;&#10;                &lt;Box style={{ height: '112px', background: '#FFFFFF', borderRadius: '12px', padding: '18px 20px', justifyContent: 'center', boxShadow: '0 4px 20px rgba(14,116,144,0.08)' }}&gt;&#10;                    &lt;Text style={{ fontSize: 19, fontWeight: '600', color: '#0E7490' }}&gt;F4　指标切换&lt;/Text&gt;&#10;                    &lt;Text style={{ fontSize: 15, color: '#64748B', marginTop: '6px', lineHeight: 1.5 }}&gt;AQI / PM2.5 / PM10 / SO₂ / NO₂ / CO / O₃&lt;/Text&gt;&#10;                &lt;/Box&gt;&#10;            &lt;/Box&gt;&#10;&#10;            &lt;Box style={{ flex: 1, justifyContent: 'space-between' }}&gt;&#10;                &lt;Box style={{ height: '112px', background: '#FFFFFF', borderRadius: '12px', padding: '18px 20px', justifyContent: 'center', boxShadow: '0 4px 20px rgba(14,116,144,0.08)' }}&gt;&#10;                    &lt;Text style={{ fontSize: 19, fontWeight: '600', color: '#0E7490' }}&gt;F5　趋势折线&lt;/Text&gt;&#10;                    &lt;Text style={{ fontSize: 15, color: '#64748B', marginTop: '6px', lineHeight: 1.5 }}&gt;多城市同图对比，随日期与指标联动&lt;/Text&gt;&#10;                &lt;/Box&gt;&#10;                &lt;Box style={{ height: '112px', background: '#FFFFFF', borderRadius: '12px', padding: '18px 20px', justifyContent: 'center', boxShadow: '0 4px 20px rgba(14,116,144,0.08)' }}&gt;&#10;                    &lt;Text style={{ fontSize: 19, fontWeight: '600', color: '#0E7490' }}&gt;F6　对比柱状&lt;/Text&gt;&#10;                    &lt;Text style={{ fontSize: 15, color: '#64748B', marginTop: '6px', lineHeight: 1.5 }}&gt;时段内各城市平均浓度横向对比&lt;/Text&gt;&#10;                &lt;/Box&gt;&#10;                &lt;Box style={{ height: '112px', background: '#FFFFFF', borderRadius: '12px', padding: '18px 20px', justifyContent: 'center', boxShadow: '0 4px 20px rgba(14,116,144,0.08)' }}&gt;&#10;                    &lt;Text style={{ fontSize: 19, fontWeight: '600', color: '#0E7490' }}&gt;F7　等级环形&lt;/Text&gt;&#10;                    &lt;Text style={{ fontSize: 15, color: '#64748B', marginTop: '6px', lineHeight: 1.5 }}&gt;优 / 良 / 轻度 / 中度 / 重度 / 严重天数占比&lt;/Text&gt;&#10;                &lt;/Box&gt;&#10;                &lt;Box style={{ height: '112px', background: '#FFFFFF', borderRadius: '12px', padding: '18px 20px', justifyContent: 'center', boxShadow: '0 4px 20px rgba(14,116,144,0.08)' }}&gt;&#10;                    &lt;Text style={{ fontSize: 19, fontWeight: '600', color: '#0E7490' }}&gt;F8　明细表格&lt;/Text&gt;&#10;                    &lt;Text style={{ fontSize: 15, color: '#64748B', marginTop: '6px', lineHeight: 1.5 }}&gt;当前筛选下原始数据，分页每页 10 条&lt;/Text&gt;&#10;                &lt;/Box&gt;&#10;            &lt;/Box&gt;&#10;        &lt;/Box&gt;&#10;    &lt;/Box&gt;&#10;&#10;    &lt;Box style={{ height: '40px', flexDirection: 'row', alignItems: 'center', justifyContent: 'space-between' }}&gt;&#10;        &lt;Text style={{ fontSize: 14, color: '#64748B' }}&gt;AQI 按 HJ 633-2012 取六项 IAQI 最大值　|　46 项自动化测试全部通过，含 4,332 行全量交叉校验零偏差&lt;/Text&gt;&#10;        &lt;Text style={{ fontSize: 14, color: '#94A3B8' }}&gt;05 / 0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9FA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108585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E7490"/>
                </a:solidFill>
                <a:latin typeface="Microsoft YaHei"/>
                <a:ea typeface="Microsoft YaHei"/>
              </a:rPr>
              <a:t>功能与接口实现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66750" y="1028700"/>
            <a:ext cx="533400" cy="38100"/>
          </a:xfrm>
          <a:prstGeom prst="rect">
            <a:avLst/>
          </a:prstGeom>
          <a:solidFill>
            <a:srgbClr val="7FD1C6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666750" y="1238250"/>
            <a:ext cx="3238500" cy="4857750"/>
          </a:xfrm>
          <a:prstGeom prst="roundRect">
            <a:avLst>
              <a:gd name="adj" fmla="val 4118"/>
            </a:avLst>
          </a:prstGeom>
          <a:gradFill>
            <a:gsLst>
              <a:gs pos="0">
                <a:srgbClr val="0E7490"/>
              </a:gs>
              <a:gs pos="100000">
                <a:srgbClr val="7FD1C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95350" y="1447800"/>
            <a:ext cx="2781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150">
                <a:solidFill>
                  <a:srgbClr val="B8E6E0"/>
                </a:solidFill>
                <a:latin typeface="Microsoft YaHei"/>
                <a:ea typeface="Microsoft YaHei"/>
              </a:rPr>
              <a:t>API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895350" y="1790700"/>
            <a:ext cx="2781300" cy="419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四个后端接口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95350" y="2257425"/>
            <a:ext cx="2781300" cy="3524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A1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　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GET /api/cities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95350" y="2609850"/>
            <a:ext cx="27813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D6EEEC"/>
                </a:solidFill>
                <a:latin typeface="Microsoft YaHei"/>
                <a:ea typeface="Microsoft YaHei"/>
              </a:rPr>
              <a:t>城市列表，含城市名与城市代码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95350" y="2905125"/>
            <a:ext cx="2781300" cy="3524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A2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　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GET /api/air-quality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95350" y="3257550"/>
            <a:ext cx="27813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D6EEEC"/>
                </a:solidFill>
                <a:latin typeface="Microsoft YaHei"/>
                <a:ea typeface="Microsoft YaHei"/>
              </a:rPr>
              <a:t>城市</a:t>
            </a:r>
            <a:r>
              <a:rPr lang="en-US" sz="1050">
                <a:solidFill>
                  <a:srgbClr val="D6EEEC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D6EEEC"/>
                </a:solidFill>
                <a:latin typeface="Microsoft YaHei"/>
                <a:ea typeface="Microsoft YaHei"/>
              </a:rPr>
              <a:t>指标</a:t>
            </a:r>
            <a:r>
              <a:rPr lang="en-US" sz="1050">
                <a:solidFill>
                  <a:srgbClr val="D6EEEC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D6EEEC"/>
                </a:solidFill>
                <a:latin typeface="Microsoft YaHei"/>
                <a:ea typeface="Microsoft YaHei"/>
              </a:rPr>
              <a:t>起止日期，分页返回明细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95350" y="3552825"/>
            <a:ext cx="2781300" cy="3524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A3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　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GET /api/air-quality/stats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95350" y="3905250"/>
            <a:ext cx="27813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D6EEEC"/>
                </a:solidFill>
                <a:latin typeface="Microsoft YaHei"/>
                <a:ea typeface="Microsoft YaHei"/>
              </a:rPr>
              <a:t>按城市分组：均值</a:t>
            </a:r>
            <a:r>
              <a:rPr lang="en-US" sz="1050">
                <a:solidFill>
                  <a:srgbClr val="D6EEEC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D6EEEC"/>
                </a:solidFill>
                <a:latin typeface="Microsoft YaHei"/>
                <a:ea typeface="Microsoft YaHei"/>
              </a:rPr>
              <a:t>最大</a:t>
            </a:r>
            <a:r>
              <a:rPr lang="en-US" sz="1050">
                <a:solidFill>
                  <a:srgbClr val="D6EEEC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D6EEEC"/>
                </a:solidFill>
                <a:latin typeface="Microsoft YaHei"/>
                <a:ea typeface="Microsoft YaHei"/>
              </a:rPr>
              <a:t>最小</a:t>
            </a:r>
            <a:r>
              <a:rPr lang="en-US" sz="1050">
                <a:solidFill>
                  <a:srgbClr val="D6EEEC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D6EEEC"/>
                </a:solidFill>
                <a:latin typeface="Microsoft YaHei"/>
                <a:ea typeface="Microsoft YaHei"/>
              </a:rPr>
              <a:t>优良率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95350" y="4200525"/>
            <a:ext cx="2781300" cy="3524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A4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　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GET /api/air-quality/{id}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95350" y="4552950"/>
            <a:ext cx="27813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D6EEEC"/>
                </a:solidFill>
                <a:latin typeface="Microsoft YaHei"/>
                <a:ea typeface="Microsoft YaHei"/>
              </a:rPr>
              <a:t>单条记录全部字段详情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895350" y="4848225"/>
            <a:ext cx="2781300" cy="1038225"/>
          </a:xfrm>
          <a:prstGeom prst="roundRect">
            <a:avLst>
              <a:gd name="adj" fmla="val 9174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047750" y="4981575"/>
            <a:ext cx="24765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B8E6E0"/>
                </a:solidFill>
                <a:latin typeface="Microsoft YaHei"/>
                <a:ea typeface="Microsoft YaHei"/>
              </a:rPr>
              <a:t>参数示例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047750" y="5276850"/>
            <a:ext cx="2476500" cy="4762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FFFFFF"/>
                </a:solidFill>
                <a:latin typeface="Arial"/>
                <a:ea typeface="Arial"/>
              </a:rPr>
              <a:t>?cityIds=1,2&amp;metric=pm25</a:t>
            </a:r>
            <a:endParaRPr/>
          </a:p>
          <a:p>
            <a:pPr>
              <a:lnSpc>
                <a:spcPct val="160000"/>
              </a:lnSpc>
            </a:pPr>
            <a:r>
              <a:rPr lang="en-US" sz="975">
                <a:solidFill>
                  <a:srgbClr val="FFFFFF"/>
                </a:solidFill>
                <a:latin typeface="Arial"/>
                <a:ea typeface="Arial"/>
              </a:rPr>
              <a:t>&amp;start=2025-01-01&amp;end=2025-01-31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4210050" y="1238250"/>
            <a:ext cx="35623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E749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400550" y="1504950"/>
            <a:ext cx="3181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7490"/>
                </a:solidFill>
                <a:latin typeface="Microsoft YaHei"/>
                <a:ea typeface="Microsoft YaHei"/>
              </a:rPr>
              <a:t>F1</a:t>
            </a:r>
            <a:r>
              <a:rPr lang="zh-CN" sz="1425" b="1">
                <a:solidFill>
                  <a:srgbClr val="0E7490"/>
                </a:solidFill>
                <a:latin typeface="Microsoft YaHei"/>
                <a:ea typeface="Microsoft YaHei"/>
              </a:rPr>
              <a:t>　首页框架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400550" y="1781175"/>
            <a:ext cx="3181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顶部标题栏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左侧筛选区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主区图表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4210050" y="2505075"/>
            <a:ext cx="35623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E749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400550" y="2771775"/>
            <a:ext cx="3181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7490"/>
                </a:solidFill>
                <a:latin typeface="Microsoft YaHei"/>
                <a:ea typeface="Microsoft YaHei"/>
              </a:rPr>
              <a:t>F2</a:t>
            </a:r>
            <a:r>
              <a:rPr lang="zh-CN" sz="1425" b="1">
                <a:solidFill>
                  <a:srgbClr val="0E7490"/>
                </a:solidFill>
                <a:latin typeface="Microsoft YaHei"/>
                <a:ea typeface="Microsoft YaHei"/>
              </a:rPr>
              <a:t>　城市选择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400550" y="3048000"/>
            <a:ext cx="3181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12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城可多选，支持全选与一键清空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4210050" y="3762375"/>
            <a:ext cx="35623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E749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4400550" y="4029075"/>
            <a:ext cx="3181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7490"/>
                </a:solidFill>
                <a:latin typeface="Microsoft YaHei"/>
                <a:ea typeface="Microsoft YaHei"/>
              </a:rPr>
              <a:t>F3</a:t>
            </a:r>
            <a:r>
              <a:rPr lang="zh-CN" sz="1425" b="1">
                <a:solidFill>
                  <a:srgbClr val="0E7490"/>
                </a:solidFill>
                <a:latin typeface="Microsoft YaHei"/>
                <a:ea typeface="Microsoft YaHei"/>
              </a:rPr>
              <a:t>　时间范围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4400550" y="4305300"/>
            <a:ext cx="3181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起止日期选择，默认展示最近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30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4210050" y="5029200"/>
            <a:ext cx="35623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E749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4400550" y="5295900"/>
            <a:ext cx="3181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7490"/>
                </a:solidFill>
                <a:latin typeface="Microsoft YaHei"/>
                <a:ea typeface="Microsoft YaHei"/>
              </a:rPr>
              <a:t>F4</a:t>
            </a:r>
            <a:r>
              <a:rPr lang="zh-CN" sz="1425" b="1">
                <a:solidFill>
                  <a:srgbClr val="0E7490"/>
                </a:solidFill>
                <a:latin typeface="Microsoft YaHei"/>
                <a:ea typeface="Microsoft YaHei"/>
              </a:rPr>
              <a:t>　指标切换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4400550" y="5572125"/>
            <a:ext cx="3181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AQI / PM2.5 / PM10 / SO₂ / NO₂ / CO / O₃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7962900" y="1238250"/>
            <a:ext cx="35623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E749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153400" y="1504950"/>
            <a:ext cx="3181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7490"/>
                </a:solidFill>
                <a:latin typeface="Microsoft YaHei"/>
                <a:ea typeface="Microsoft YaHei"/>
              </a:rPr>
              <a:t>F5</a:t>
            </a:r>
            <a:r>
              <a:rPr lang="zh-CN" sz="1425" b="1">
                <a:solidFill>
                  <a:srgbClr val="0E7490"/>
                </a:solidFill>
                <a:latin typeface="Microsoft YaHei"/>
                <a:ea typeface="Microsoft YaHei"/>
              </a:rPr>
              <a:t>　趋势折线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153400" y="1781175"/>
            <a:ext cx="3181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多城市同图对比，随日期与指标联动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7962900" y="2505075"/>
            <a:ext cx="35623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E749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153400" y="2771775"/>
            <a:ext cx="3181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7490"/>
                </a:solidFill>
                <a:latin typeface="Microsoft YaHei"/>
                <a:ea typeface="Microsoft YaHei"/>
              </a:rPr>
              <a:t>F6</a:t>
            </a:r>
            <a:r>
              <a:rPr lang="zh-CN" sz="1425" b="1">
                <a:solidFill>
                  <a:srgbClr val="0E7490"/>
                </a:solidFill>
                <a:latin typeface="Microsoft YaHei"/>
                <a:ea typeface="Microsoft YaHei"/>
              </a:rPr>
              <a:t>　对比柱状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153400" y="3048000"/>
            <a:ext cx="3181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时段内各城市平均浓度横向对比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7962900" y="3762375"/>
            <a:ext cx="35623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E749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153400" y="4029075"/>
            <a:ext cx="3181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7490"/>
                </a:solidFill>
                <a:latin typeface="Microsoft YaHei"/>
                <a:ea typeface="Microsoft YaHei"/>
              </a:rPr>
              <a:t>F7</a:t>
            </a:r>
            <a:r>
              <a:rPr lang="zh-CN" sz="1425" b="1">
                <a:solidFill>
                  <a:srgbClr val="0E7490"/>
                </a:solidFill>
                <a:latin typeface="Microsoft YaHei"/>
                <a:ea typeface="Microsoft YaHei"/>
              </a:rPr>
              <a:t>　等级环形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153400" y="4305300"/>
            <a:ext cx="3181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优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良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轻度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中度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重度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严重天数占比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7962900" y="5029200"/>
            <a:ext cx="356235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E749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153400" y="5295900"/>
            <a:ext cx="3181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7490"/>
                </a:solidFill>
                <a:latin typeface="Microsoft YaHei"/>
                <a:ea typeface="Microsoft YaHei"/>
              </a:rPr>
              <a:t>F8</a:t>
            </a:r>
            <a:r>
              <a:rPr lang="zh-CN" sz="1425" b="1">
                <a:solidFill>
                  <a:srgbClr val="0E7490"/>
                </a:solidFill>
                <a:latin typeface="Microsoft YaHei"/>
                <a:ea typeface="Microsoft YaHei"/>
              </a:rPr>
              <a:t>　明细表格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153400" y="5572125"/>
            <a:ext cx="3181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当前筛选下原始数据，分页每页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10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66750" y="6210300"/>
            <a:ext cx="6315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AQI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按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HJ 633-2012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取六项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IAQI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最大值　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|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46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项自动化测试全部通过，含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4,332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行全量交叉校验零偏差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1068050" y="6210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05 / 07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17" name="" descr="&lt;Slide style={{ padding: '20px 70px', background: '#F4F9FA' }}&gt;&#10;    &lt;Box style={{ height: '110px', justifyContent: 'center' }}&gt;&#10;        &lt;Text style={{ fontSize: 36, fontWeight: 'bold', color: '#0E7490', lineHeight: 1.3 }}&gt;成果演示与数据发现&lt;/Text&gt;&#10;        &lt;Box style={{ width: '56px', height: '4px', background: '#7FD1C6', marginTop: '12px' }} /&gt;&#10;    &lt;/Box&gt;&#10;&#10;    &lt;Box style={{ height: '280px', background: '#FFFFFF', borderRadius: '14px', padding: '14px', boxShadow: '0 4px 20px rgba(14,116,144,0.08)' }}&gt;&#10;        &lt;svg width='1112' height='252' viewBox='0 0 1112 252'&gt;&#10;            &lt;rect x='0' y='0' width='1112' height='34' rx='6' fill='#0E7490' /&gt;&#10;            &lt;text x='18' y='23' font-size='15' fill='#FFFFFF' font-weight='bold'&gt;城市空气质量监测看板&lt;/text&gt;&#10;            &lt;text x='980' y='23' font-size='12' fill='#B8E6E0'&gt;数据截止 2025-12-31&lt;/text&gt;&#10;&#10;            &lt;rect x='0' y='44' width='248' height='208' rx='8' fill='#F4F9FA' /&gt;&#10;            &lt;text x='16' y='68' font-size='13' fill='#0E7490' font-weight='bold'&gt;筛选区&lt;/text&gt;&#10;            &lt;rect x='16' y='80' width='216' height='26' rx='5' fill='#FFFFFF' stroke='#D9E5E8' /&gt;&#10;            &lt;text x='26' y='97' font-size='12' fill='#64748B'&gt;城市（多选）北京 ×　上海 ×&lt;/text&gt;&#10;            &lt;rect x='16' y='114' width='216' height='26' rx='5' fill='#FFFFFF' stroke='#D9E5E8' /&gt;&#10;            &lt;text x='26' y='131' font-size='12' fill='#64748B'&gt;2025-12-02　~　2025-12-31&lt;/text&gt;&#10;            &lt;rect x='16' y='148' width='216' height='26' rx='5' fill='#FFFFFF' stroke='#D9E5E8' /&gt;&#10;            &lt;text x='26' y='165' font-size='12' fill='#64748B'&gt;指标：AQI&lt;/text&gt;&#10;            &lt;rect x='16' y='190' width='216' height='30' rx='6' fill='#0E7490' /&gt;&#10;            &lt;text x='86' y='210' font-size='13' fill='#FFFFFF'&gt;查询&lt;/text&gt;&#10;&#10;            &lt;rect x='260' y='44' width='530' height='112' rx='8' fill='#F4F9FA' /&gt;&#10;            &lt;text x='276' y='66' font-size='12' fill='#0E7490' font-weight='bold'&gt;趋势折线&lt;/text&gt;&#10;            &lt;polyline points='276,142 320,120 364,128 408,104 452,112 496,88 540,96 584,74 628,84 672,66 716,78 760,60' fill='none' stroke='#0E7490' stroke-width='2.5' /&gt;&#10;            &lt;polyline points='276,150 320,138 364,132 408,124 452,120 496,116 540,104 584,108 628,100 672,96 716,92 760,88' fill='none' stroke='#7FD1C6' stroke-width='2.5' /&gt;&#10;&#10;            &lt;rect x='802' y='44' width='310' height='112' rx='8' fill='#F4F9FA' /&gt;&#10;            &lt;text x='818' y='66' font-size='12' fill='#0E7490' font-weight='bold'&gt;城市对比柱状&lt;/text&gt;&#10;            &lt;rect x='818' y='98' width='34' height='44' rx='4' fill='#0E7490' /&gt;&#10;            &lt;rect x='862' y='84' width='34' height='58' rx='4' fill='#7FD1C6' /&gt;&#10;            &lt;rect x='906' y='108' width='34' height='34' rx='4' fill='#F59E0B' /&gt;&#10;            &lt;rect x='950' y='76' width='34' height='66' rx='4' fill='#0E7490' /&gt;&#10;            &lt;rect x='994' y='92' width='34' height='50' rx='4' fill='#7FD1C6' /&gt;&#10;&#10;            &lt;rect x='260' y='166' width='310' height='86' rx='8' fill='#F4F9FA' /&gt;&#10;            &lt;text x='276' y='188' font-size='12' fill='#0E7490' font-weight='bold'&gt;等级分布环形&lt;/text&gt;&#10;            &lt;circle cx='330' cy='222' r='26' fill='none' stroke='#E2E8F0' stroke-width='12' /&gt;&#10;            &lt;path d='M330 196 A26 26 0 0 1 356 222' fill='none' stroke='#4CAF50' stroke-width='12' /&gt;&#10;            &lt;path d='M356 222 A26 26 0 0 1 330 248' fill='none' stroke='#EAB308' stroke-width='12' /&gt;&#10;            &lt;path d='M330 248 A26 26 0 0 1 304 222' fill='none' stroke='#FF7E00' stroke-width='12' /&gt;&#10;            &lt;text x='380' y='212' font-size='12' fill='#64748B'&gt;优 44%&lt;/text&gt;&#10;            &lt;text x='380' y='230' font-size='12' fill='#64748B'&gt;良 45%&lt;/text&gt;&#10;            &lt;text x='470' y='212' font-size='12' fill='#64748B'&gt;轻度 9%&lt;/text&gt;&#10;&#10;            &lt;rect x='582' y='166' width='530' height='86' rx='8' fill='#F4F9FA' /&gt;&#10;            &lt;text x='598' y='188' font-size='12' fill='#0E7490' font-weight='bold'&gt;数据详情表格&lt;/text&gt;&#10;            &lt;rect x='598' y='198' width='498' height='18' rx='3' fill='#E6F6F5' /&gt;&#10;            &lt;text x='606' y='211' font-size='11' fill='#0E7490'&gt;城市　　日期　　　　AQI　等级&lt;/text&gt;&#10;            &lt;text x='606' y='229' font-size='11' fill='#64748B'&gt;北京　2025-12-31　19　优&lt;/text&gt;&#10;            &lt;text x='606' y='245' font-size='11' fill='#64748B'&gt;郑州　2025-12-31　52　良&lt;/text&gt;&#10;        &lt;/svg&gt;&#10;    &lt;/Box&gt;&#10;&#10;    &lt;Box style={{ height: '196px', flexDirection: 'row', gap: '16px', marginTop: '18px' }}&gt;&#10;        &lt;Box style={{ flex: 1, background: '#FFFFFF', borderRadius: '12px', padding: '20px 20px', justifyContent: 'space-between', boxShadow: '0 4px 20px rgba(14,116,144,0.08)' }}&gt;&#10;            &lt;Text style={{ fontSize: 44, fontWeight: 'bold', color: '#F59E0B', fontFamily: 'Arial', lineHeight: 1.0 }}&gt;62.3&lt;/Text&gt;&#10;            &lt;Text style={{ fontSize: 15, color: '#64748B', lineHeight: 1.5, marginTop: '10px' }}&gt;12 城全年平均 AQI，整体落在&quot;良&quot;区间——数据有梯度，不是一片绿&lt;/Text&gt;&#10;        &lt;/Box&gt;&#10;        &lt;Box style={{ flex: 1, background: '#FFFFFF', borderRadius: '12px', padding: '20px 20px', justifyContent: 'space-between', boxShadow: '0 4px 20px rgba(14,116,144,0.08)' }}&gt;&#10;            &lt;Text style={{ fontSize: 34, fontWeight: 'bold', color: '#0E7490', fontFamily: 'Arial', lineHeight: 1.0 }}&gt;40.8 / 82.4&lt;/Text&gt;&#10;            &lt;Text style={{ fontSize: 15, color: '#64748B', lineHeight: 1.5, marginTop: '10px' }}&gt;深圳最优、郑州最差，首尾相差 2 倍——城市选取确实拉开了梯度&lt;/Text&gt;&#10;        &lt;/Box&gt;&#10;        &lt;Box style={{ flex: 1, background: '#FFFFFF', borderRadius: '12px', padding: '20px 20px', justifyContent: 'space-between', boxShadow: '0 4px 20px rgba(14,116,144,0.08)' }}&gt;&#10;            &lt;Text style={{ fontSize: 44, fontWeight: 'bold', color: '#F59E0B', fontFamily: 'Arial', lineHeight: 1.0 }}&gt;926&lt;/Text&gt;&#10;            &lt;Text style={{ fontSize: 15, color: '#64748B', lineHeight: 1.5, marginTop: '10px' }}&gt;O₃ 作为首要污染物的天数超过 PM2.5 的 640 天——夏季臭氧已成主矛盾&lt;/Text&gt;&#10;        &lt;/Box&gt;&#10;        &lt;Box style={{ flex: 1, background: '#FFFFFF', borderRadius: '12px', padding: '20px 20px', justifyContent: 'space-between', boxShadow: '0 4px 20px rgba(14,116,144,0.08)' }}&gt;&#10;            &lt;Text style={{ fontSize: 30, fontWeight: 'bold', color: '#0E7490', lineHeight: 1.1 }}&gt;六档全覆盖&lt;/Text&gt;&#10;            &lt;Text style={{ fontSize: 15, color: '#64748B', lineHeight: 1.5, marginTop: '10px' }}&gt;优 1906 · 良 1950 · 轻度 374 · 中度 59 · 重度 35 · 严重 8 天&lt;/Text&gt;&#10;        &lt;/Box&gt;&#10;    &lt;/Box&gt;&#10;&#10;    &lt;Box style={{ height: '40px', flexDirection: 'row', alignItems: 'center', justifyContent: 'space-between' }}&gt;&#10;        &lt;Text style={{ fontSize: 14, color: '#94A3B8' }}&gt;城市空气质量监测看板&lt;/Text&gt;&#10;        &lt;Text style={{ fontSize: 14, color: '#94A3B8' }}&gt;06 / 07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9FA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66750" y="371475"/>
            <a:ext cx="108585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0E7490"/>
                </a:solidFill>
                <a:latin typeface="Microsoft YaHei"/>
                <a:ea typeface="Microsoft YaHei"/>
              </a:rPr>
              <a:t>成果演示与数据发现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66750" y="1028700"/>
            <a:ext cx="533400" cy="38100"/>
          </a:xfrm>
          <a:prstGeom prst="rect">
            <a:avLst/>
          </a:prstGeom>
          <a:solidFill>
            <a:srgbClr val="7FD1C6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666750" y="1238250"/>
            <a:ext cx="10858500" cy="266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E7490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371600"/>
            <a:ext cx="10591800" cy="2400300"/>
          </a:xfrm>
          <a:prstGeom prst="rect">
            <a:avLst/>
          </a:prstGeom>
          <a:ln/>
        </p:spPr>
      </p:pic>
      <p:sp>
        <p:nvSpPr>
          <p:cNvPr id="123" name=""/>
          <p:cNvSpPr/>
          <p:nvPr/>
        </p:nvSpPr>
        <p:spPr>
          <a:xfrm rot="0" flipH="0" flipV="0">
            <a:off x="666750" y="4076700"/>
            <a:ext cx="2600325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E749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57250" y="4267200"/>
            <a:ext cx="22193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59E0B"/>
                </a:solidFill>
                <a:latin typeface="Arial"/>
                <a:ea typeface="Arial"/>
              </a:rPr>
              <a:t>62.3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57250" y="4981575"/>
            <a:ext cx="221932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12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城全年平均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AQI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，整体落在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良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区间——数据有梯度，不是一片绿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3419475" y="4076700"/>
            <a:ext cx="2600325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E749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3609975" y="4267200"/>
            <a:ext cx="22193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7490"/>
                </a:solidFill>
                <a:latin typeface="Arial"/>
                <a:ea typeface="Arial"/>
              </a:rPr>
              <a:t>40.8 / 82.4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3609975" y="5238750"/>
            <a:ext cx="22193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深圳最优、郑州最差，首尾相差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2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倍——城市选取确实拉开了梯度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6172200" y="4076700"/>
            <a:ext cx="2600325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E749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362700" y="4267200"/>
            <a:ext cx="22193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59E0B"/>
                </a:solidFill>
                <a:latin typeface="Arial"/>
                <a:ea typeface="Arial"/>
              </a:rPr>
              <a:t>926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362700" y="4981575"/>
            <a:ext cx="221932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O₃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作为首要污染物的天数超过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PM2.5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的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640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天——夏季臭氧已成主矛盾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8924925" y="4076700"/>
            <a:ext cx="2600325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E749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9115425" y="4267200"/>
            <a:ext cx="2219325" cy="3810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2250" b="1">
                <a:solidFill>
                  <a:srgbClr val="0E7490"/>
                </a:solidFill>
                <a:latin typeface="Microsoft YaHei"/>
                <a:ea typeface="Microsoft YaHei"/>
              </a:rPr>
              <a:t>六档全覆盖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115425" y="5238750"/>
            <a:ext cx="22193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优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1906 ·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良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1950 ·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轻度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374 ·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中度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59 ·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重度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35 ·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严重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8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66750" y="60579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城市空气质量监测看板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1068050" y="60579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06 / 07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37" name="" descr="&lt;Slide style={{ padding: 0, background: '#0E7490', position: 'relative', overflow: 'hidden' }}&gt;&#10;    &lt;Image src=&quot;assets/end_sky.png&quot; style={{ position: 'absolute', top: 0, left: 0, width: '1280px', height: '720px', objectFit: 'cover' }} /&gt;&#10;    &lt;Box style={{ position: 'absolute', top: 0, left: 0, width: '1280px', height: '720px', background: 'linear-gradient(180deg, rgba(8,47,61,0.45) 0%, rgba(8,47,61,0.78) 100%)' }} /&gt;&#10;&#10;    &lt;Box style={{ position: 'relative', zIndex: 2, width: '100%', height: '720px', alignItems: 'center', justifyContent: 'center', paddingLeft: '140px', paddingRight: '140px' }}&gt;&#10;        &lt;Text style={{ fontSize: 14, color: '#7FD1C6', letterSpacing: 6, fontWeight: '600' }}&gt;SUMMARY&lt;/Text&gt;&#10;        &lt;Text style={{ fontSize: 48, fontWeight: 'bold', color: '#FFFFFF', marginTop: '22px', lineHeight: 1.2, textAlign: 'center', textShadow: '0 2px 16px rgba(0,0,0,0.35)' }}&gt;让真实数据自己说话&lt;/Text&gt;&#10;        &lt;Box style={{ width: '80px', height: '4px', background: '#F59E0B', marginTop: '28px' }} /&gt;&#10;        &lt;Text style={{ fontSize: 18, color: '#D6EEEC', marginTop: '30px', textAlign: 'center', lineHeight: 1.7 }}&gt;12 城 · 361 天 · 4,332 条真实观测　|　8 项前端功能 · 4 个后端接口 · 46 项测试全部通过&lt;/Text&gt;&#10;&#10;        &lt;Box style={{ flexDirection: 'row', gap: '24px', marginTop: '46px' }}&gt;&#10;            &lt;Box style={{ width: '360px', background: 'rgba(255,255,255,0.12)', borderRadius: '12px', padding: '24px 26px' }}&gt;&#10;                &lt;Text style={{ fontSize: 17, fontWeight: '600', color: '#FFFFFF' }}&gt;已经做到&lt;/Text&gt;&#10;                &lt;Text style={{ fontSize: 15, color: '#C7E8E4', marginTop: '12px', lineHeight: 1.7 }}&gt;数据来自官方发布、可追溯；全链路自己搭通；看板可筛选、可对比、可下钻到单条记录&lt;/Text&gt;&#10;            &lt;/Box&gt;&#10;            &lt;Box style={{ width: '360px', background: 'rgba(255,255,255,0.12)', borderRadius: '12px', padding: '24px 26px' }}&gt;&#10;                &lt;Text style={{ fontSize: 17, fontWeight: '600', color: '#FFFFFF' }}&gt;还能更好&lt;/Text&gt;&#10;                &lt;Text style={{ fontSize: 15, color: '#C7E8E4', marginTop: '12px', lineHeight: 1.7 }}&gt;扩展到小时粒度 10 万行、接入实时数据、增加更多城市与污染物对比维度&lt;/Text&gt;&#10;            &lt;/Box&gt;&#10;        &lt;/Box&gt;&#10;&#10;        &lt;Text style={{ fontSize: 15, color: '#9EC9C4', marginTop: '40px', textAlign: 'center', lineHeight: 1.6 }}&gt;说明：数据集观测区间为 2025-01-01 ~ 2025-12-31，看板呈现的是该区间内的历史数据，非实时数据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p/>
        </p:txBody>
      </p:sp>
      <p:pic>
        <p:nvPicPr>
          <p:cNvPr id="139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82F3D">
                  <a:alpha val="45000"/>
                </a:srgbClr>
              </a:gs>
              <a:gs pos="100000">
                <a:srgbClr val="082F3D">
                  <a:alpha val="78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5524500" y="1209675"/>
            <a:ext cx="114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450">
                <a:solidFill>
                  <a:srgbClr val="7FD1C6"/>
                </a:solidFill>
                <a:latin typeface="Microsoft YaHei"/>
                <a:ea typeface="Microsoft YaHei"/>
              </a:rPr>
              <a:t>SUMMARY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038600" y="1581150"/>
            <a:ext cx="4114800" cy="666750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zh-CN" sz="3600" b="1">
                <a:solidFill>
                  <a:srgbClr val="FFFFFF"/>
                </a:solidFill>
                <a:effectLst>
                  <a:outerShdw blurRad="152400" dist="19050" dir="5400000">
                    <a:srgbClr val="000000">
                      <a:alpha val="35000"/>
                    </a:srgbClr>
                  </a:outerShdw>
                </a:effectLst>
                <a:latin typeface="Microsoft YaHei"/>
                <a:ea typeface="Microsoft YaHei"/>
              </a:rPr>
              <a:t>让真实数据自己说话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5715000" y="2514600"/>
            <a:ext cx="762000" cy="381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2733675" y="2838450"/>
            <a:ext cx="6734175" cy="352425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en-US" sz="1350">
                <a:solidFill>
                  <a:srgbClr val="D6EEEC"/>
                </a:solidFill>
                <a:latin typeface="Microsoft YaHei"/>
                <a:ea typeface="Microsoft YaHei"/>
              </a:rPr>
              <a:t>12 </a:t>
            </a:r>
            <a:r>
              <a:rPr lang="zh-CN" sz="1350">
                <a:solidFill>
                  <a:srgbClr val="D6EEEC"/>
                </a:solidFill>
                <a:latin typeface="Microsoft YaHei"/>
                <a:ea typeface="Microsoft YaHei"/>
              </a:rPr>
              <a:t>城</a:t>
            </a:r>
            <a:r>
              <a:rPr lang="en-US" sz="1350">
                <a:solidFill>
                  <a:srgbClr val="D6EEEC"/>
                </a:solidFill>
                <a:latin typeface="Microsoft YaHei"/>
                <a:ea typeface="Microsoft YaHei"/>
              </a:rPr>
              <a:t> · 361 </a:t>
            </a:r>
            <a:r>
              <a:rPr lang="zh-CN" sz="1350">
                <a:solidFill>
                  <a:srgbClr val="D6EEEC"/>
                </a:solidFill>
                <a:latin typeface="Microsoft YaHei"/>
                <a:ea typeface="Microsoft YaHei"/>
              </a:rPr>
              <a:t>天</a:t>
            </a:r>
            <a:r>
              <a:rPr lang="en-US" sz="1350">
                <a:solidFill>
                  <a:srgbClr val="D6EEEC"/>
                </a:solidFill>
                <a:latin typeface="Microsoft YaHei"/>
                <a:ea typeface="Microsoft YaHei"/>
              </a:rPr>
              <a:t> · 4,332 </a:t>
            </a:r>
            <a:r>
              <a:rPr lang="zh-CN" sz="1350">
                <a:solidFill>
                  <a:srgbClr val="D6EEEC"/>
                </a:solidFill>
                <a:latin typeface="Microsoft YaHei"/>
                <a:ea typeface="Microsoft YaHei"/>
              </a:rPr>
              <a:t>条真实观测　</a:t>
            </a:r>
            <a:r>
              <a:rPr lang="en-US" sz="1350">
                <a:solidFill>
                  <a:srgbClr val="D6EEEC"/>
                </a:solidFill>
                <a:latin typeface="Microsoft YaHei"/>
                <a:ea typeface="Microsoft YaHei"/>
              </a:rPr>
              <a:t>|</a:t>
            </a:r>
            <a:r>
              <a:rPr lang="zh-CN" sz="1350">
                <a:solidFill>
                  <a:srgbClr val="D6EEEC"/>
                </a:solidFill>
                <a:latin typeface="Microsoft YaHei"/>
                <a:ea typeface="Microsoft YaHei"/>
              </a:rPr>
              <a:t>　</a:t>
            </a:r>
            <a:r>
              <a:rPr lang="en-US" sz="1350">
                <a:solidFill>
                  <a:srgbClr val="D6EEEC"/>
                </a:solidFill>
                <a:latin typeface="Microsoft YaHei"/>
                <a:ea typeface="Microsoft YaHei"/>
              </a:rPr>
              <a:t>8 </a:t>
            </a:r>
            <a:r>
              <a:rPr lang="zh-CN" sz="1350">
                <a:solidFill>
                  <a:srgbClr val="D6EEEC"/>
                </a:solidFill>
                <a:latin typeface="Microsoft YaHei"/>
                <a:ea typeface="Microsoft YaHei"/>
              </a:rPr>
              <a:t>项前端功能</a:t>
            </a:r>
            <a:r>
              <a:rPr lang="en-US" sz="1350">
                <a:solidFill>
                  <a:srgbClr val="D6EEEC"/>
                </a:solidFill>
                <a:latin typeface="Microsoft YaHei"/>
                <a:ea typeface="Microsoft YaHei"/>
              </a:rPr>
              <a:t> · 4 </a:t>
            </a:r>
            <a:r>
              <a:rPr lang="zh-CN" sz="1350">
                <a:solidFill>
                  <a:srgbClr val="D6EEEC"/>
                </a:solidFill>
                <a:latin typeface="Microsoft YaHei"/>
                <a:ea typeface="Microsoft YaHei"/>
              </a:rPr>
              <a:t>个后端接口</a:t>
            </a:r>
            <a:r>
              <a:rPr lang="en-US" sz="1350">
                <a:solidFill>
                  <a:srgbClr val="D6EEEC"/>
                </a:solidFill>
                <a:latin typeface="Microsoft YaHei"/>
                <a:ea typeface="Microsoft YaHei"/>
              </a:rPr>
              <a:t> · 46 </a:t>
            </a:r>
            <a:r>
              <a:rPr lang="zh-CN" sz="1350">
                <a:solidFill>
                  <a:srgbClr val="D6EEEC"/>
                </a:solidFill>
                <a:latin typeface="Microsoft YaHei"/>
                <a:ea typeface="Microsoft YaHei"/>
              </a:rPr>
              <a:t>项测试全部通过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2552700" y="3629025"/>
            <a:ext cx="3429000" cy="1362075"/>
          </a:xfrm>
          <a:prstGeom prst="roundRect">
            <a:avLst>
              <a:gd name="adj" fmla="val 8392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2800350" y="3857625"/>
            <a:ext cx="293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已经做到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2800350" y="4171950"/>
            <a:ext cx="29337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C7E8E4"/>
                </a:solidFill>
                <a:latin typeface="Microsoft YaHei"/>
                <a:ea typeface="Microsoft YaHei"/>
              </a:rPr>
              <a:t>数据来自官方发布、可追溯；全链路自己搭通；看板可筛选、可对比、可下钻到单条记录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6210300" y="3629025"/>
            <a:ext cx="3429000" cy="1362075"/>
          </a:xfrm>
          <a:prstGeom prst="roundRect">
            <a:avLst>
              <a:gd name="adj" fmla="val 8392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457950" y="3857625"/>
            <a:ext cx="293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还能更好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457950" y="4171950"/>
            <a:ext cx="29337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C7E8E4"/>
                </a:solidFill>
                <a:latin typeface="Microsoft YaHei"/>
                <a:ea typeface="Microsoft YaHei"/>
              </a:rPr>
              <a:t>扩展到小时粒度</a:t>
            </a:r>
            <a:r>
              <a:rPr lang="en-US" sz="1125">
                <a:solidFill>
                  <a:srgbClr val="C7E8E4"/>
                </a:solidFill>
                <a:latin typeface="Microsoft YaHei"/>
                <a:ea typeface="Microsoft YaHei"/>
              </a:rPr>
              <a:t> 10 </a:t>
            </a:r>
            <a:r>
              <a:rPr lang="zh-CN" sz="1125">
                <a:solidFill>
                  <a:srgbClr val="C7E8E4"/>
                </a:solidFill>
                <a:latin typeface="Microsoft YaHei"/>
                <a:ea typeface="Microsoft YaHei"/>
              </a:rPr>
              <a:t>万行、接入实时数据、增加更多城市与污染物对比维度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2828925" y="5372100"/>
            <a:ext cx="6543675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125">
                <a:solidFill>
                  <a:srgbClr val="9EC9C4"/>
                </a:solidFill>
                <a:latin typeface="Microsoft YaHei"/>
                <a:ea typeface="Microsoft YaHei"/>
              </a:rPr>
              <a:t>说明：数据集观测区间为</a:t>
            </a:r>
            <a:r>
              <a:rPr lang="en-US" sz="1125">
                <a:solidFill>
                  <a:srgbClr val="9EC9C4"/>
                </a:solidFill>
                <a:latin typeface="Microsoft YaHei"/>
                <a:ea typeface="Microsoft YaHei"/>
              </a:rPr>
              <a:t> 2025-01-01 ~ 2025-12-31</a:t>
            </a:r>
            <a:r>
              <a:rPr lang="zh-CN" sz="1125">
                <a:solidFill>
                  <a:srgbClr val="9EC9C4"/>
                </a:solidFill>
                <a:latin typeface="Microsoft YaHei"/>
                <a:ea typeface="Microsoft YaHei"/>
              </a:rPr>
              <a:t>，看板呈现的是该区间内的历史数据，非实时数据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2026-10-25T22:47:21Z</dcterms:created>
  <dcterms:modified xsi:type="dcterms:W3CDTF">2026-10-25T22:47:21Z</dcterms:modified>
</cp:coreProperties>
</file>